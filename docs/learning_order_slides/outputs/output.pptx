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9d1dd6904c4117" /><Relationship Type="http://schemas.openxmlformats.org/officeDocument/2006/relationships/extended-properties" Target="/docProps/app.xml" Id="R61f45aa507c14935" /><Relationship Type="http://schemas.openxmlformats.org/officeDocument/2006/relationships/officeDocument" Target="/ppt/presentation.xml" Id="Rf5155aa7ebc24c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28fc09c1e415f"/>
  </p:sldMasterIdLst>
  <p:notesMasterIdLst>
    <p:notesMasterId xmlns:r="http://schemas.openxmlformats.org/officeDocument/2006/relationships" r:id="R8e1427a594c041c7"/>
  </p:notesMasterIdLst>
  <p:sldIdLst>
    <p:sldId xmlns:r="http://schemas.openxmlformats.org/officeDocument/2006/relationships" id="256" r:id="R2c1ef7ce1bb64899"/>
    <p:sldId xmlns:r="http://schemas.openxmlformats.org/officeDocument/2006/relationships" id="257" r:id="Rf4968c70b46d4017"/>
    <p:sldId xmlns:r="http://schemas.openxmlformats.org/officeDocument/2006/relationships" id="258" r:id="R49f0835d20a04eeb"/>
    <p:sldId xmlns:r="http://schemas.openxmlformats.org/officeDocument/2006/relationships" id="259" r:id="R9fba26f873264d9d"/>
    <p:sldId xmlns:r="http://schemas.openxmlformats.org/officeDocument/2006/relationships" id="260" r:id="R542c1c94550d4982"/>
    <p:sldId xmlns:r="http://schemas.openxmlformats.org/officeDocument/2006/relationships" id="261" r:id="Rd03acac2ad0d4a5a"/>
    <p:sldId xmlns:r="http://schemas.openxmlformats.org/officeDocument/2006/relationships" id="262" r:id="Rfc6027d2ce6644f7"/>
    <p:sldId xmlns:r="http://schemas.openxmlformats.org/officeDocument/2006/relationships" id="263" r:id="R44f7addf366a41e5"/>
    <p:sldId xmlns:r="http://schemas.openxmlformats.org/officeDocument/2006/relationships" id="264" r:id="Rc985388b50784a01"/>
    <p:sldId xmlns:r="http://schemas.openxmlformats.org/officeDocument/2006/relationships" id="265" r:id="R87dfbaa9d97947fc"/>
    <p:sldId xmlns:r="http://schemas.openxmlformats.org/officeDocument/2006/relationships" id="266" r:id="R4cb59453a51d4a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28fc09c1e415f" /><Relationship Type="http://schemas.openxmlformats.org/officeDocument/2006/relationships/theme" Target="/ppt/theme/theme1.xml" Id="R4ba405d8ef1e4e9d" /><Relationship Type="http://schemas.openxmlformats.org/officeDocument/2006/relationships/notesMaster" Target="/ppt/notesMasters/notesMaster1.xml" Id="R8e1427a594c041c7" /><Relationship Type="http://schemas.openxmlformats.org/officeDocument/2006/relationships/presProps" Target="/ppt/presProps.xml" Id="R8ef1742b0bb149d5" /><Relationship Type="http://schemas.openxmlformats.org/officeDocument/2006/relationships/viewProps" Target="/ppt/viewProps.xml" Id="R4ecc3253d8a143a4" /><Relationship Type="http://schemas.openxmlformats.org/officeDocument/2006/relationships/tableStyles" Target="/ppt/tableStyles.xml" Id="R1ee5ef6f350f4d87" /><Relationship Type="http://schemas.openxmlformats.org/officeDocument/2006/relationships/slide" Target="/ppt/slides/slide1.xml" Id="R2c1ef7ce1bb64899" /><Relationship Type="http://schemas.openxmlformats.org/officeDocument/2006/relationships/slide" Target="/ppt/slides/slide2.xml" Id="Rf4968c70b46d4017" /><Relationship Type="http://schemas.openxmlformats.org/officeDocument/2006/relationships/slide" Target="/ppt/slides/slide3.xml" Id="R49f0835d20a04eeb" /><Relationship Type="http://schemas.openxmlformats.org/officeDocument/2006/relationships/slide" Target="/ppt/slides/slide4.xml" Id="R9fba26f873264d9d" /><Relationship Type="http://schemas.openxmlformats.org/officeDocument/2006/relationships/slide" Target="/ppt/slides/slide5.xml" Id="R542c1c94550d4982" /><Relationship Type="http://schemas.openxmlformats.org/officeDocument/2006/relationships/slide" Target="/ppt/slides/slide6.xml" Id="Rd03acac2ad0d4a5a" /><Relationship Type="http://schemas.openxmlformats.org/officeDocument/2006/relationships/slide" Target="/ppt/slides/slide7.xml" Id="Rfc6027d2ce6644f7" /><Relationship Type="http://schemas.openxmlformats.org/officeDocument/2006/relationships/slide" Target="/ppt/slides/slide8.xml" Id="R44f7addf366a41e5" /><Relationship Type="http://schemas.openxmlformats.org/officeDocument/2006/relationships/slide" Target="/ppt/slides/slide9.xml" Id="Rc985388b50784a01" /><Relationship Type="http://schemas.openxmlformats.org/officeDocument/2006/relationships/slide" Target="/ppt/slides/slide10.xml" Id="R87dfbaa9d97947fc" /><Relationship Type="http://schemas.openxmlformats.org/officeDocument/2006/relationships/slide" Target="/ppt/slides/slide11.xml" Id="R4cb59453a51d4a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a27eed1b9c5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611bf2716e437e" /><Relationship Type="http://schemas.openxmlformats.org/officeDocument/2006/relationships/notesMaster" Target="/ppt/notesMasters/notesMaster1.xml" Id="R65dd3333f11447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a760808aad4bd9" /><Relationship Type="http://schemas.openxmlformats.org/officeDocument/2006/relationships/notesMaster" Target="/ppt/notesMasters/notesMaster1.xml" Id="Rcc3deac97227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67b287f50a400b" /><Relationship Type="http://schemas.openxmlformats.org/officeDocument/2006/relationships/notesMaster" Target="/ppt/notesMasters/notesMaster1.xml" Id="R3a59a0fee99244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658df8f66e48d7" /><Relationship Type="http://schemas.openxmlformats.org/officeDocument/2006/relationships/notesMaster" Target="/ppt/notesMasters/notesMaster1.xml" Id="R4d287cd7a36249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6e804d04b4318" /><Relationship Type="http://schemas.openxmlformats.org/officeDocument/2006/relationships/notesMaster" Target="/ppt/notesMasters/notesMaster1.xml" Id="Rd7d3237558634a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58b32a188a4230" /><Relationship Type="http://schemas.openxmlformats.org/officeDocument/2006/relationships/notesMaster" Target="/ppt/notesMasters/notesMaster1.xml" Id="Ra80a80268b1242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50326e115f48e2" /><Relationship Type="http://schemas.openxmlformats.org/officeDocument/2006/relationships/notesMaster" Target="/ppt/notesMasters/notesMaster1.xml" Id="Rd8d6b3cd50f84b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43f2a732454b1f" /><Relationship Type="http://schemas.openxmlformats.org/officeDocument/2006/relationships/notesMaster" Target="/ppt/notesMasters/notesMaster1.xml" Id="Rddf727ebd1c542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0fe1d059194acd" /><Relationship Type="http://schemas.openxmlformats.org/officeDocument/2006/relationships/notesMaster" Target="/ppt/notesMasters/notesMaster1.xml" Id="Rc7ff0fa22a0941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c45adb111242eb" /><Relationship Type="http://schemas.openxmlformats.org/officeDocument/2006/relationships/notesMaster" Target="/ppt/notesMasters/notesMaster1.xml" Id="R8f7f0ef0c79c4f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db4bb7d0f74fe5" /><Relationship Type="http://schemas.openxmlformats.org/officeDocument/2006/relationships/notesMaster" Target="/ppt/notesMasters/notesMaster1.xml" Id="Rbaff77482a0e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封面页。强调学习顺序与运行顺序有关，但更关键的是理解依赖关系：driver -&gt; selection -&gt; validation -&gt; ML -&gt; fit -&gt; paper。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这一页只建立总图。提醒自己：不要一上来就扎进 train_xgboost_bdt.py，否则很容易只看到模型，看不到 upstream physics selection。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顺带回答用户结构问题。指出最不整齐的地方其实是 utils.h 还在根目录，而不是函数太多。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第一天不要追求细节。你的目标只是能画出一张阶段图：histmaker -&gt; treemaker -&gt; train -&gt; fit / apply -&gt; plots -&gt; paper。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这里开始建立 physics intuition：每个 cut 都应该对应一个明确的背景类型，而不是纯机械筛选。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这是最关键的一天。你必须能用一句话准确回答 cut5：remove lepton -&gt; cluster rest into 4 jets -&gt; require njets == 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你要学会把 plots 当作 debug / validation 入口，而不是 paper decoration。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这一天的核心是 dataset accounting，不是 AUC 本身。你必须能清楚说出 70/30 split 和 validation split 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overtraining 判断不只看 AUC，还看 train/test score 分布、KS statistic、weighted chi2/ndf。k-fold 结果最终服务于 fit 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最后一天把统计层和展示层串起来：selection/ML 为什么会落到这些模板和这些 figures 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收尾页。建议用户真正开始学时，每一页过完就回脚本做一次口头复述和一次命令执行。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powerofjinbo/fcc-ee-qqlvqq. Core scripts: run_lvqq.py, h_hww_lvqq.py, plots_lvqq.py, ml/*.py, paper/*.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8e1f867a24a8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E04D04B-DC1A-4EFC-9EBF-2DFECF7F415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C1EDBFC-624A-44CB-A8FA-1A2A1EF619B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4C5471-5AF9-4C55-BA84-F09102BBF95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2DC5F5-F664-4C66-9945-4AF55D90E3E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cf55cafe7d4ee7" /><Relationship Type="http://schemas.openxmlformats.org/officeDocument/2006/relationships/slideLayout" Target="/ppt/slideLayouts/slideLayout2.xml" Id="R6953876a560d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31F430-99A9-4A51-86E8-9F2AC6876E4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53876a560d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e4342503e24148" /><Relationship Type="http://schemas.openxmlformats.org/officeDocument/2006/relationships/image" Target="/ppt/media/image.png" Id="Rd5c85d235359467b" /><Relationship Type="http://schemas.openxmlformats.org/officeDocument/2006/relationships/notesSlide" Target="/ppt/notesSlides/notesSlide1.xml" Id="R6198c552108543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f90af1ea094b4e" /><Relationship Type="http://schemas.openxmlformats.org/officeDocument/2006/relationships/image" Target="/ppt/media/image2.png" Id="Read4ea7cd13d4d43" /><Relationship Type="http://schemas.openxmlformats.org/officeDocument/2006/relationships/notesSlide" Target="/ppt/notesSlides/notesSlide2.xml" Id="R8cbd1af9ae4944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9421577434eb6" /><Relationship Type="http://schemas.openxmlformats.org/officeDocument/2006/relationships/image" Target="/ppt/media/image3.png" Id="Ra674ffea3cd64a19" /><Relationship Type="http://schemas.openxmlformats.org/officeDocument/2006/relationships/notesSlide" Target="/ppt/notesSlides/notesSlide3.xml" Id="R5693108640194e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6af3b6d3774a8a" /><Relationship Type="http://schemas.openxmlformats.org/officeDocument/2006/relationships/image" Target="/ppt/media/image4.png" Id="Rbde1eb0cbb5f45c6" /><Relationship Type="http://schemas.openxmlformats.org/officeDocument/2006/relationships/notesSlide" Target="/ppt/notesSlides/notesSlide4.xml" Id="Rfdfd2d48ea944d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d80c75e9b54f0a" /><Relationship Type="http://schemas.openxmlformats.org/officeDocument/2006/relationships/image" Target="/ppt/media/image5.png" Id="Rc9905c33d33d4d4c" /><Relationship Type="http://schemas.openxmlformats.org/officeDocument/2006/relationships/notesSlide" Target="/ppt/notesSlides/notesSlide5.xml" Id="R6f4f475dd64544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9a57c7ed543d1" /><Relationship Type="http://schemas.openxmlformats.org/officeDocument/2006/relationships/image" Target="/ppt/media/image6.png" Id="R2d460760322248f0" /><Relationship Type="http://schemas.openxmlformats.org/officeDocument/2006/relationships/notesSlide" Target="/ppt/notesSlides/notesSlide6.xml" Id="R56181971348144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d186b1d1904c53" /><Relationship Type="http://schemas.openxmlformats.org/officeDocument/2006/relationships/image" Target="/ppt/media/image7.png" Id="R59862c0babf542f3" /><Relationship Type="http://schemas.openxmlformats.org/officeDocument/2006/relationships/notesSlide" Target="/ppt/notesSlides/notesSlide7.xml" Id="R88a85171ca1f48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40f8d4e254860" /><Relationship Type="http://schemas.openxmlformats.org/officeDocument/2006/relationships/image" Target="/ppt/media/image8.png" Id="Rc957e90226c74bff" /><Relationship Type="http://schemas.openxmlformats.org/officeDocument/2006/relationships/notesSlide" Target="/ppt/notesSlides/notesSlide8.xml" Id="R497a7ff01aa440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02faf7ae68463b" /><Relationship Type="http://schemas.openxmlformats.org/officeDocument/2006/relationships/image" Target="/ppt/media/image9.png" Id="R8a8d9a7b3a364044" /><Relationship Type="http://schemas.openxmlformats.org/officeDocument/2006/relationships/notesSlide" Target="/ppt/notesSlides/notesSlide9.xml" Id="R3ee3079d35a84d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7bdf2496c34a2d" /><Relationship Type="http://schemas.openxmlformats.org/officeDocument/2006/relationships/image" Target="/ppt/media/image10.png" Id="R08902d3e4d2b4902" /><Relationship Type="http://schemas.openxmlformats.org/officeDocument/2006/relationships/notesSlide" Target="/ppt/notesSlides/notesSlide10.xml" Id="R3b3fb5115da142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7cc6d5315140b7" /><Relationship Type="http://schemas.openxmlformats.org/officeDocument/2006/relationships/image" Target="/ppt/media/image11.png" Id="R01f967bbcdea46a5" /><Relationship Type="http://schemas.openxmlformats.org/officeDocument/2006/relationships/notesSlide" Target="/ppt/notesSlides/notesSlide11.xml" Id="Ra02d6a8225564a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85d235359467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991F7-7539-4509-A8A2-0CE8280A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E2D3E-5AF0-4249-B8BD-98A61EBE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72AC8-6B6A-4405-ADA3-EE6AE4A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FCC LVQQ STUDY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9C4C2-931C-48F2-A554-7DC7E61A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2"/>
                </a:solidFill>
              </a:defRPr>
            </a:pPr>
            <a:r>
              <a:rPr sz="3600" b="1">
                <a:solidFill>
                  <a:srgbClr val="172022"/>
                </a:solidFill>
              </a:rPr>
              <a:t>FCC lvqq Pipeline</a:t>
            </a:r>
          </a:p>
          <a:p xmlns:a="http://schemas.openxmlformats.org/drawingml/2006/main">
            <a:pPr algn="l">
              <a:defRPr sz="3600" b="1">
                <a:solidFill>
                  <a:srgbClr val="172022"/>
                </a:solidFill>
              </a:defRPr>
            </a:pPr>
            <a:r>
              <a:rPr sz="3600" b="1">
                <a:solidFill>
                  <a:srgbClr val="172022"/>
                </a:solidFill>
              </a:rPr>
              <a:t>学习顺序 Slides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C20BC-2C62-4450-920D-E1A8A86B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548"/>
                </a:solidFill>
              </a:defRPr>
            </a:pPr>
            <a:r>
              <a:rPr sz="1500" b="0">
                <a:solidFill>
                  <a:srgbClr val="3A4548"/>
                </a:solidFill>
              </a:rPr>
              <a:t>目标不是先背脚本，而是先搞清楚 输入 / 输出 / cut / feature / fit 的依赖关系。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21DB2-20FC-4A74-8858-99433896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D6AD9-35DD-4542-B447-0888E6E1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2"/>
                </a:solidFill>
              </a:defRPr>
            </a:pPr>
            <a:r>
              <a:rPr sz="1725" b="1">
                <a:solidFill>
                  <a:srgbClr val="172022"/>
                </a:solidFill>
              </a:rPr>
              <a:t>先看数据怎么流，再看每一步为什么这样做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43EDB-AF72-4BCD-BB81-DD1C2A11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1988624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4ea7cd13d4d4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21BB7-91BE-4084-89B3-882AD05A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0F830-C1BA-4B5B-BCB3-9BDB4B6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5A815-EB22-4F79-B8D1-BE3D3967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02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48304-FD63-434D-B5B2-DA3EFC66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17168-C1EE-4FB1-BC05-B63D238C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7CC85-0C66-489C-8A21-235ED0C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先记住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全局地图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D675E-E1D2-49DE-87A0-04E4F398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先把仓库当成 4 层，而不是一堆并列脚本。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798E3-12B9-48FF-BFA4-9B9C876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6820B-BE68-4DF5-AE15-DFCE32F0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9AF19-DEA0-4067-948B-1912650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2"/>
                </a:solidFill>
              </a:defRPr>
            </a:pPr>
            <a:r>
              <a:rPr sz="2550" b="1">
                <a:solidFill>
                  <a:srgbClr val="172022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F7BBD-C6C7-4DF1-B918-5DF7DDE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A4548"/>
                </a:solidFill>
              </a:defRPr>
            </a:pPr>
            <a:r>
              <a:rPr sz="1200" b="0">
                <a:solidFill>
                  <a:srgbClr val="3A4548"/>
                </a:solidFill>
              </a:rPr>
              <a:t>正常使用只需要记住一个主入口：run_lvqq.py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6EFA0-519F-4722-8F0A-03A0975C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driver / orchestration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57DD3-8682-4386-9F30-C2BC8D7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936AD-719A-4B9E-B7E8-359797F2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F8F9D-B6BF-487D-99A1-2A46D1CE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2"/>
                </a:solidFill>
              </a:defRPr>
            </a:pPr>
            <a:r>
              <a:rPr sz="2550" b="1">
                <a:solidFill>
                  <a:srgbClr val="172022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F775F-833E-48D7-A646-E542974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A4548"/>
                </a:solidFill>
              </a:defRPr>
            </a:pPr>
            <a:r>
              <a:rPr sz="1200" b="0">
                <a:solidFill>
                  <a:srgbClr val="3A4548"/>
                </a:solidFill>
              </a:rPr>
              <a:t>核心层次：selection、plots、ml、paper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7353D-23DD-46AC-BF3C-F44FE393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understand the layers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8CE5F-A69A-4B4F-82D0-F60605EE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7B07E-E5C2-480A-8C6D-26E8F26E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8DB39-95A0-4F2F-9BEA-4C9DB93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2"/>
                </a:solidFill>
              </a:defRPr>
            </a:pPr>
            <a:r>
              <a:rPr sz="2550" b="1">
                <a:solidFill>
                  <a:srgbClr val="172022"/>
                </a:solidFill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A3780-9975-47E7-B9F0-B3487BF1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A4548"/>
                </a:solidFill>
              </a:defRPr>
            </a:pPr>
            <a:r>
              <a:rPr sz="1200" b="0">
                <a:solidFill>
                  <a:srgbClr val="3A4548"/>
                </a:solidFill>
              </a:rPr>
              <a:t>建议按 7 天路线逐层往下钻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F9CF7-013F-44B0-9EC8-9FF9EAF4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from driver to 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CEDD84-785E-4EC6-85F3-A74A10A9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173031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4ffea3cd64a1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38221-2BCC-4681-A4A1-3D4B9E3F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6D53F-D8F0-47F0-89B0-D95A7463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REPO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7BB89-6E9D-48E9-A56C-0AB6772E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03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5BCE2-48EE-4624-8E60-1D55C95E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0B426-BB40-4E60-91FC-662761AD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A82DA-6A2E-4F17-811E-1F86BD9A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Repo 结构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怎么读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DD73D-181E-40E1-B145-A0CBDF09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你现在觉得结构乱，主要是因为 helper、分析、论文层混在根目录视角里。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F7550-C381-4D16-9596-9712D86A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19BB5-814E-443C-914A-7AAAC4BD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C16F0-6E79-4EB2-8EE8-77B5B00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46380-E7C0-4AE9-867C-14764009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9E919-0E03-41D5-B111-7B69D6CC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BA5BB-E753-4CF7-9DA0-ECD91C72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27240-83ED-4865-A034-10C7EAC7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Top Level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21DB2-0610-43CD-8042-95EABD53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run_lvqq.py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是总调度；h_hww_lvqq.py 是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FCCAnalyses event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graph；ml_config.py 管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sample、feature、路径。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63DBB-6463-487F-8848-22C18838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12DF9-829A-4707-9B0D-BA01E0C8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14F16-1469-4381-9EE3-69DEBCFA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72D6E-3086-4173-BEF1-E065B591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B6D5B-ABC5-43C5-A1BF-4640C1EE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DB320-FEF4-4C35-ABCE-6095E307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A287A-2F0C-491D-8241-B49BB9B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functions/ + utils.h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4BA43-D949-4CD1-9C65-E1D8311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这是 C++ helper 层，不是普通 Python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function 集合。它们被 includePaths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注入后，直接服务于 df.Define(...) 和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df.Filter(...)。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54F17-14A3-43E0-976F-F75DFAB7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E318E-525C-4471-90FC-F848F9D6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896E2-AFAA-4C8D-923D-A581CA66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422A91-BE6E-4132-AA8A-95C324FB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6F1826-C863-473C-BCBC-3EC557CE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21B0E-D1CD-4AC6-8481-D87D547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854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CEAD9A-B05E-4698-8F5D-C371410B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paper/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ACE930-EFA8-453F-8E5A-F34A17E9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这是结果包装层。它不决定 selection 或 ML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本身，而是把 plots 和 fit 结果整理成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paper figures 与 main.tex。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E09082-A0A9-4D26-9917-7FD446B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391516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1eb0cbb5f45c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F7766-87E3-4B6A-820F-3F35AB85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B2227-3688-420F-9D05-A21B90C2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DAY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53A12-DD7E-47EA-897C-F4AD490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04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CF4C6-D143-4F7C-80E8-060A5D69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77CB8-FD64-4BAD-B41C-C349042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07BA-0FC4-4AEE-AB57-05E7B681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Day 1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run_lvqq.py + ml_config.py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E9F43-CCDE-4587-946C-DF9136BF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先看 orchestration，再看配置；先搞清楚谁调用谁，再看 feature list。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B04EB-08A2-44A9-B73C-88D78534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C6F53-ADC5-4161-8B0E-A37AF88F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0EC32-2A26-4C01-B2F3-C268D57E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CEC44-5738-4B9E-A216-38D3555D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02543-73FF-4AC8-AC6A-66094A9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A36FA-A90F-4CF5-AF04-82E301F3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E6F23-7A43-488F-BCDD-F715415B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读什么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F74D5-A47E-45C3-AB9A-1289D0B0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run_sequence、step_histmaker、step_treemaker、step_train、step_fit、main；再看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ml_config 里的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ML_FEATURES、SIGNAL_SAMPLES、BACKGROUND_SAMPLES。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66AAC-4742-4364-A0CD-DFD08E8F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EA7E2-0B20-408D-9A4B-5231BA99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D179E-4939-496A-938D-03D76B7E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BD1AE-E59D-4523-B402-12ED7D9A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D18AD-2D12-4DC8-B6F1-824872F3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F54D7-500F-4BAF-B7BC-D60FCD6F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4E27A-1C17-477C-A6E0-63E5C869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要回答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60484-47DC-4253-8EC6-57F17864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每个 target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读什么输入、写到哪个目录？background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fraction 改的是处理比例还是物理定义？为什么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ml_config 要作为共享配置层存在？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EEBE8-78D6-4D3B-9DF3-B361628B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4FF33-83E7-4AF9-9349-3BD8F002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E792A1-10EC-4FEA-9324-72625A29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357CC-4180-4D21-9EDB-6848F64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9D4F9A-2C19-4613-94BD-CAD4F627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4AE09E-6D6F-4427-9D37-21455056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854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558F19-D770-43FC-9711-3A946A90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自己跑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681F9-B797-4D5B-BFCD-25F36890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python3 run_lvqq.py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--help；然后口头复述 all / stage1 /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ml / paper 分别对应什么。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B22433-94D3-417E-A7FC-1FCEB3C7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954103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05c33d33d4d4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EA900-98F9-423B-8B5E-0B8F30CE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614E0-DDFD-480B-8180-46DA2D5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DAY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2315C-4319-47AE-B8CE-0174D98E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05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515C4-AF61-4B0C-A4BD-AF14CE58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D6722-FC00-4299-BDA7-CE9ABFEC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99E9E-B807-4A06-AD5A-51E47D7E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Day 2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h_hww_lvqq.py 前半段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A053C-184F-49F4-9C60-8F87FB1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先吃透 cut1 到 cut4：1 lepton、isolation、extra-lepton veto、MET。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4D95D-B555-45C4-8D72-CBBA6307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B51FE-C2F1-4A75-AA3F-E8DE7ABB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B641F-57D7-4B76-8292-0343BB55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13692-A372-4317-B093-3E8BEBD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32277-BA3B-421C-AD82-52F0FD4D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40190-CE9E-4283-BB9D-06E65F2C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07E79-F47A-4399-B335-8D50714C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读什么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F9AEF-4AF9-443B-8EB6-AAC3244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build_graph_lvqq() 里 lepton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object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定义、coneIsolation、n_leptons_p20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/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p5、missingEnergy、missingMass、cosTheta_miss。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ADD02-060D-47E1-8C89-68068CD3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3A853-99FC-4C3F-8FE9-B5592398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38236-6508-4CFF-BE1B-D5C250A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933E9-8781-462F-818C-123C7DF2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2B66C-FB28-44B3-81CF-2DC02F00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3C12D-E8FC-4BD3-9AD3-FB65FBB2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93211-2463-4756-A510-33849340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要回答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47305-EABF-4244-AF40-A7C4157F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Define 和 Filter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区别是什么？为什么先要唯一高动量轻子，再做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isolation，再 veto 额外轻子？MET &gt;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20 GeV 主要在压什么背景？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D54F0-A1FB-4A38-8CD5-C2F869E8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F57E8-411A-4F59-BCA9-F8A2982B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6BC6D-B37C-4736-A645-E0B28F1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72B62-D26D-4D00-91F8-EB10CD9F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D5539F-4EC4-4D82-AE5C-814032F6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4086C1-0B0F-4D19-A375-08E6D085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854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A09B5F-6D33-4BBF-BF79-B49596A1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自己跑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DF7B34-9FE0-498E-938E-664B785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python3 run_lvqq.py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histmaker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--background-fraction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0.02；再去 plots 看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lepton_p、lepton_iso、missingEnergy_e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的分布。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A2F1DD-6989-48BD-BBD7-4F9B396B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125857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60760322248f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50ED2-5D5A-4924-BD3A-E46B29F9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4145C-3656-442E-B895-4A4F5924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DAY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8434B-1B0B-4FC7-818E-72925ED7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06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84D8E-C022-480D-AFFA-AC0B67EC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E30B9-BDF8-4EBC-BEB9-9E177305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4D63E-9827-4E21-866B-EAA818B9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Day 3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h_hww_lvqq.py 后半段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82966-B76F-4ECE-822A-969F7CDB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这一页要彻底讲清 cut5 的 4 jets、Z-priority pairing、以及 cut6-7。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79C77-8DC3-4CF5-B69C-B6E250DC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271A2-93BB-4771-A1B6-9F3AB4F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84FF1-B992-4E52-9CC8-9AFC9329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13507-B45D-4F76-81FD-3C33CF7F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B5E2F-A453-4CE2-B7C4-57B77DC4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FF564-6268-43D4-8CDE-C62CD6A8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D30D7-B258-4687-AD41-82FEF103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对象构造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CD46C-24E2-4597-959C-046C501E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先 remove 掉已选 lepton，再把剩余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ReconstructedParticles 做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exclusive ee_kt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clustering，得到 jets，再定义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Zcand、Wstar、Wlep、Hcand、recoil。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26EBE-BFE7-4209-AB96-7EABE1F6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5E036-BBDA-411C-98F2-03C4009D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91AC6-086C-45E0-BB46-723418DA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446B5-7BBC-4055-913C-20CDC7E3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24660-F888-4100-96FA-A6BE1FF2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4628A-FD7A-40F6-95B0-FE608EDD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8F942-E6A0-4898-94CC-6713EE9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Jan 真正在问什么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E0A5F-5D0D-4F79-8C7E-1B7944D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4 个 jet 不是从已有 jet list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里挑出来的；真正的 filter 是 njets ==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4。对象构造在前，事件筛选在后，这个口头表达一定要分开。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B5A5C-D273-47A7-92F7-B2C7A93B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0B935-757A-4B58-B32C-02ECFAF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DFA68-4DE6-49B1-BB2F-EC5B8E1D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C80792-E2FE-4030-8043-1028C4E5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79879-E126-4F43-AC4E-62226F5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543CD9-CBD4-4AAB-BA21-C65A2D0C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854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1D02C5-1468-41BD-BEB8-AC464603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自己跑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6A24A6-A151-4252-B2CE-476948BC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python3 run_lvqq.py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treemaker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--background-fraction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0.02；然后确认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output/h_hww_lvqq/treemaker/ecm240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里树上有哪些 ML feature。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9A6799-00D7-4636-BB16-72E57DF9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1093112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62c0babf542f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8E9D0-4D58-4C4F-94F8-27912C4F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04F73-AEF3-4E02-9F7E-2EE000E2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DAY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9EB52-E006-4DA7-971A-50526C6D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07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4E0A6-5342-4DAD-9796-63F136A0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0C24F-67E2-4A2D-8841-A3661D22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B5971-84CC-4BB4-9FD0-10DF78AB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Day 4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plots_lvqq.py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7E928-ACD2-469B-8C16-393D767D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这一步不是补图，而是验证你的 selection 是否真的按预期工作。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0FAC7-B7A7-4046-9F84-0B2E76E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F79EA-3994-4D28-98C2-B5BBBFCA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CDE89-D37B-4F5B-97C8-CAB62734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8878C-BF46-4285-B27E-409D896E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DFDA7-593E-42F4-90BD-886E5889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18145-15BA-40E0-BFFB-818F5F84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D1B06-233C-4A0E-B1C3-2B26F76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读什么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0820D-D9F2-4F78-B77E-716AB603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getHist、collectCutflowData、m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akeCutflowTable、makePlot、mak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eNormalizedPlot、makeComparis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onPlot。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7F2B7-DE6A-49DF-9FAA-467028BB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266E4-CBA2-4D95-9560-CF800A68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B38BD-2A3D-45DE-990D-D5495E33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C8E1C-22BD-4143-A860-ECEBD3D0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E5466-0DE8-41CB-A6F0-2AFE6505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E3D53-8F1E-4891-86E3-300AF48C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7E5ED-F40A-40F7-8609-709447EE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要回答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A0C19-9FC5-49B8-9568-4D1C6130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哪些 process 被 merge 成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plotting group？为什么 histmaker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输出不需要再 scale？哪几张图最适合验证 cut6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和 cut7 的物理意义？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4171C-AC94-4B7C-A9B0-AF7AD48F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DB92F-8F49-466B-9F4B-B69131A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E32C5-ED33-450A-9956-94B52E88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24F34-BCB3-47E9-8F00-1CF090A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5A54B-2232-4B7C-9664-0E438A30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896442-F3BE-4579-B8DF-983F7CAD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854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17B2C0-00EC-4CBD-8B2B-50DC8EE2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自己跑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FC82C-0F0E-44FB-8AE7-CD7EF990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python3 run_lvqq.py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plots；重点看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cutflow、deltaZ、recoil_m_afterZ、Hcand_m_final_norm。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6B9666-1E6A-4D75-9B92-8B4B281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1342496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7e90226c74bf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E69A9-62BB-4C1D-9389-2D91098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EE2FB-F264-4A23-9E4B-104C1099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DAY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7DAAA-CE74-4071-A001-3996C01B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08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5BD41-00A8-40DF-8F4F-59695F9C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8310B-580B-4168-9B6C-83CF49A7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77632-9EF1-4B69-A1D6-0127352F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Day 5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train_xgboost_bdt.py：数据进入模型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B46A6-01E3-4908-BFA8-2C74FE7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先理解 sample reading、physics weight、class balancing、train/test split，再谈模型本身。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917FC-EA22-4586-BD70-16810E65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EEA41-9454-4A36-A039-E5FF071F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E84C4-2EE4-4700-AFC9-7C15CF4E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029C1-D12E-4219-88FB-003AFEE5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424B1-4BF3-428C-A7D5-36711D3C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47736-3EC2-4022-9775-B4290B3F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C6B08-F4E1-47EA-8066-AED4FD77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读什么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AF514-9D4C-4686-AF1F-B5A3B11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read_samples、normalize_class_weights、main()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里 sentinel 修正、class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balance、train_test_split、test_scores.csv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/ kfold_scores.csv 的写出逻辑。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D1545-1B91-4027-BB5C-B813B9D7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0B3C0-C05A-4EAA-B2DF-67822C9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6CE28-7FE8-4CD1-88FC-04297D0C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0E27A-82AF-489F-B4A1-F1842F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51341-F80A-4C46-8995-113B2961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A6273-3077-4397-AA2E-15A37321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922C9-8287-424C-9019-D0608DAC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要回答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34AC3-6087-403C-922D-0539E14C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phys_weight 为什么是 lumi * xsec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/ (ngen * fraction)？为什么训练时用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class-balanced 权重，但评估和 fit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仍然用 phys_weight？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C5DC5-D140-4ED9-B31A-60DFBD7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B527B5-E7D1-46BE-981E-E54ED626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669F9-3C8F-4A9A-9C7E-086C853B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4677E8-D43C-4B62-AEFC-F7059432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CE0F9-0A36-4228-8B4A-0F48E1E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60ADB5-978F-4323-8070-C9571D6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854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A193BD-6FB5-4C83-929E-AE277D0A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自己跑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E35163-89FB-4B46-B70C-508DE9F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LVQQ_BACKGROUND_FRACTION=0.02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python3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ml/train_xgboost_bdt.py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--no-grid-search --kfold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5；然后读 training_metrics.json。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B0541B-786A-4F67-8238-9A7E6817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2097330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d9a7b3a36404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4D679-AC2C-41C1-B69E-6F490A94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BD22A-3CB1-4A50-BE4F-56919FF8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DAY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D38EF-3DFF-4179-AF0C-66CC4F7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09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58C4B-140D-43FC-8943-F25A75F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D0EA5-769F-49E3-8C42-BAB81C69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0AB7A-9B67-4828-B648-FE5639E1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Day 6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train_xgboost_bdt.py：过拟合与 5-fold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CE4F4-33AF-4315-8415-5D0B20DF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这一页专门回答两个问题：怎么防止过拟合？5-fold 到底是干什么的？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6F90D-0708-4F90-B47A-E8E5C87D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4C27E-2CE0-4468-9DB5-0AC6B1F3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13CFE-ACB7-48CB-B15E-609BCB5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2"/>
                </a:solidFill>
              </a:defRPr>
            </a:pPr>
            <a:r>
              <a:rPr sz="2550" b="1">
                <a:solidFill>
                  <a:srgbClr val="172022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3F0A7-BD1A-496D-92E3-3F8F40A1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A4548"/>
                </a:solidFill>
              </a:defRPr>
            </a:pPr>
            <a:r>
              <a:rPr sz="1200" b="0">
                <a:solidFill>
                  <a:srgbClr val="3A4548"/>
                </a:solidFill>
              </a:rPr>
              <a:t>三层防线：独立 test、训练内 validation、early stopping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A7E7C-4EE2-4E56-9714-A9ED7121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split + stopping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659DC-E219-4338-96FA-1C0CB6A6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74167-0464-4ED2-9898-F7FFD22D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07892-2E90-47DF-8F00-A5B74B1B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2"/>
                </a:solidFill>
              </a:defRPr>
            </a:pPr>
            <a:r>
              <a:rPr sz="2550" b="1">
                <a:solidFill>
                  <a:srgbClr val="172022"/>
                </a:solidFill>
              </a:rPr>
              <a:t>4+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F48EE-4353-4EB7-9983-99717F2E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A4548"/>
                </a:solidFill>
              </a:defRPr>
            </a:pPr>
            <a:r>
              <a:rPr sz="1200" b="0">
                <a:solidFill>
                  <a:srgbClr val="3A4548"/>
                </a:solidFill>
              </a:rPr>
              <a:t>控制复杂度：max_depth、min_child_weight、subsample、colsample_bytree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E44FD-BE1F-47DD-9458-3DFE5B09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model capacity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5263F-EB49-4ACD-8E8B-7CFB4F07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23C76-E48B-437B-BEAF-E9BD16FE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8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8D7AE-9441-4A5D-8087-4F9802A4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2"/>
                </a:solidFill>
              </a:defRPr>
            </a:pPr>
            <a:r>
              <a:rPr sz="2550" b="1">
                <a:solidFill>
                  <a:srgbClr val="172022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2BB09-27F3-4C2D-8CDE-D865188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A4548"/>
                </a:solidFill>
              </a:defRPr>
            </a:pPr>
            <a:r>
              <a:rPr sz="1200" b="0">
                <a:solidFill>
                  <a:srgbClr val="3A4548"/>
                </a:solidFill>
              </a:rPr>
              <a:t>5-fold 的目标是给全部事件产生无偏 score，不是单纯报性能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A6931-5D37-4131-B532-DD4E5CCB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out-of-fold scoring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0AF1C-58C0-446F-8FB2-58F3BDB4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10650583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02d3e4d2b490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6EDC9-5AD5-4B36-8A2B-72FD0439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D103F-DFAB-482C-B153-86B5331E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DAY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3259-7B2C-484E-8403-75622556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10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35227-7C22-49CA-80A9-DEA8542B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306D3-FF25-46F4-9366-2D0BA457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F74B5-4607-43CD-B06E-A0731A20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Day 7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fit + apply +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F3B9F-2CD8-4C04-B1C1-07C17915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最后再去看统计和论文层，这样你才知道 fit 到底在消费什么输入。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BC3D1-52F5-4923-A98A-DB83A57E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0DDFF-5871-4D9D-BA15-2A410C24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14678-835C-4E31-BC28-8E2FDCAE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DBFA0-AC37-4B4F-B3E5-CE639E3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77784-3E2D-4316-97A7-DDF8BBE1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6C650-5E6A-47E9-8554-D0BD3BFC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E71CD-9079-4829-B5EB-A326DC35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fit_profile_likelihood.py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E8F52-9137-40BA-89E3-22D50C97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重点读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build_templates、build_pyhf_model、fit_asimov、scan_bdt_cut。你要能说清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counting scan 和 20-bin shape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fit 的区别。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65D1F-8C03-4FD5-9320-FED86A4F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52EAE-7F39-40C2-95B1-29809EC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41D22-B8EE-4A47-8B1C-581C7846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9C66C-2F79-41F8-B345-ECFD888A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98123-8668-4D23-BD0C-BED9704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BECC7-CC0E-42D0-AE30-6072254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0AE8B-E217-45B7-8A64-CDE80C62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apply_xgboost_bdt.py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3D66E-22A5-4E01-98D4-427577F5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把 model score 写回 scored ROOT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ntuple。它很有用，但不是默认 headline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fit 的核心输入，所以学习顺序放在 fit 后面更顺。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FAECB-5B59-4F28-8BDF-A474A325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526D2-5368-4F39-84F9-E37ACECD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0A3E7-FB05-4405-A806-93A4CA4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B80C4-C472-47D4-ADAC-63A0C6A4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DCCF88-CA6C-4475-A805-88977A35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026ECE-8780-456B-AE16-F83B097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854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489AF-C0A5-4636-8A65-1EFB8793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paper/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87C67-34E5-4509-9955-CFD5747F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generate_supporting_figures.py、sync_paper_figures.py、main.tex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负责把上游结果整理成图和文字。analysis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决定结果，paper 决定怎么呈现。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B45B4D-396A-4C8B-A98B-909D569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977925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715B3C-A91E-4905-BEA3-64C216F09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967bbcdea46a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D5DFB-1FB7-4693-8296-A5ED956B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F755E-6D34-4DA4-9876-F60889C5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F55BA-9018-4EB6-93E6-137CF88D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64D"/>
                </a:solidFill>
              </a:defRPr>
            </a:pPr>
            <a:r>
              <a:rPr sz="975" b="1">
                <a:solidFill>
                  <a:srgbClr val="07564D"/>
                </a:solidFill>
              </a:rPr>
              <a:t>11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E7BD9-4DDB-48E8-A789-E75B656E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7E385-D90C-4F95-9AE7-D51E315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19050">
            <a:solidFill>
              <a:srgbClr val="1720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9709A-76F2-43F7-AAF6-85BC4450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最后自测</a:t>
            </a:r>
          </a:p>
          <a:p xmlns:a="http://schemas.openxmlformats.org/drawingml/2006/main">
            <a:pPr algn="l">
              <a:defRPr sz="3000" b="1">
                <a:solidFill>
                  <a:srgbClr val="172022"/>
                </a:solidFill>
              </a:defRPr>
            </a:pPr>
            <a:r>
              <a:rPr sz="3000" b="1">
                <a:solidFill>
                  <a:srgbClr val="172022"/>
                </a:solidFill>
              </a:rPr>
              <a:t>你必须能答出来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7B487-0932-4C03-A948-A5B65332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548"/>
                </a:solidFill>
              </a:defRPr>
            </a:pPr>
            <a:r>
              <a:rPr sz="1425" b="0">
                <a:solidFill>
                  <a:srgbClr val="3A4548"/>
                </a:solidFill>
              </a:rPr>
              <a:t>如果下面三张卡你都能口头说顺，这条 pipeline 就真的进脑子了。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560A8-C13C-4164-8065-65F75EE2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38A74-2965-4283-875B-A0107DA2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ADFA5-93F2-4EA2-B7A7-37939AD6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42602-B4C5-4BC2-94F1-581E65FB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55179-03B6-4A0A-A7B8-9A3B1EDC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2E584-5D61-4D66-944B-D7AC2F61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6D3E-1CCA-4D12-AE48-B66C102F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结构题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2BA64-BD7A-4BFE-827F-FCAD78D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run_lvqq.py、functions/、paper/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各干什么？histmaker、treemaker、train、fit、apply、plots、paper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的输入输出是什么？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4759D-107D-498B-A02E-F0BE42FA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29D5B-EADD-42DB-8B6A-625FA067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8FBE9-3B3C-4139-9B9D-2401C8C6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BE284-8C7D-4BEA-BCAB-1932BC3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1C80F-732C-4CE9-8923-65DA1C9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A5393-7D28-401D-B0E2-D6FF082D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0A6A9-96DD-4EE9-8AED-D634CE53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方法题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6C5E9-8691-4488-80E7-B47D6141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cut5 的 4 jets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怎么来？训练集怎么分？怎么防过拟合？5-fold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为什么不是可有可无的装饰？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03BE5-BA8E-442C-B17D-B489CB1A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9CC27-C94F-4EF6-9B06-061B2F71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B8C9D-7248-4D85-9DD0-5BE2368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>
              <a:alpha val="94902"/>
            </a:srgbClr>
          </a:solidFill>
          <a:ln xmlns:a="http://schemas.openxmlformats.org/drawingml/2006/main" w="11430">
            <a:solidFill>
              <a:srgbClr val="1720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09E977-F837-4FD1-8A9A-B14014AC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B7A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939CA2-6684-49CC-B0FE-11E55E77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1340C8-31F5-4450-B2F3-6A50DA9A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854"/>
          </a:solidFill>
          <a:ln xmlns:a="http://schemas.openxmlformats.org/drawingml/2006/main" w="9525">
            <a:solidFill>
              <a:srgbClr val="17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9A713-F47E-4D4B-A0A2-D30D5A06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64D"/>
                </a:solidFill>
              </a:defRPr>
            </a:pPr>
            <a:r>
              <a:rPr sz="1125" b="1">
                <a:solidFill>
                  <a:srgbClr val="07564D"/>
                </a:solidFill>
              </a:rPr>
              <a:t>命令题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A89B8-1A7B-443B-BF77-91FCA0AB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先跑 histmaker / treemaker /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plots，再跑 train / fit /</a:t>
            </a:r>
          </a:p>
          <a:p xmlns:a="http://schemas.openxmlformats.org/drawingml/2006/main">
            <a:pPr algn="l">
              <a:defRPr sz="1125" b="0">
                <a:solidFill>
                  <a:srgbClr val="172022"/>
                </a:solidFill>
              </a:defRPr>
            </a:pPr>
            <a:r>
              <a:rPr sz="1125" b="0">
                <a:solidFill>
                  <a:srgbClr val="172022"/>
                </a:solidFill>
              </a:rPr>
              <a:t>apply。每跑完一步，都能去对应输出目录和图里验证自己刚学到的结论。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956CD4-6FF5-48F4-A6B9-804208B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77B"/>
                </a:solidFill>
              </a:defRPr>
            </a:pPr>
            <a:r>
              <a:rPr sz="750" b="0">
                <a:solidFill>
                  <a:srgbClr val="6E777B"/>
                </a:solidFill>
              </a:rPr>
              <a:t>原则：每学完一页，就回到对应脚本亲手跑一次命令。</a:t>
            </a:r>
          </a:p>
        </p:txBody>
      </p:sp>
    </p:spTree>
    <p:extLst>
      <p:ext uri="{BB962C8B-B14F-4D97-AF65-F5344CB8AC3E}">
        <p14:creationId xmlns:p14="http://schemas.microsoft.com/office/powerpoint/2010/main" val="885504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2026-04-19T08:23:28.4720000Z</dcterms:created>
  <dcterms:modified xsi:type="dcterms:W3CDTF">2026-04-19T08:23:28.4720000Z</dcterms:modified>
</coreProperties>
</file>