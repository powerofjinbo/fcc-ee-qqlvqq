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7c49b5a04442d5" /><Relationship Type="http://schemas.openxmlformats.org/officeDocument/2006/relationships/extended-properties" Target="/docProps/app.xml" Id="Rd9676c35a4f241b9" /><Relationship Type="http://schemas.openxmlformats.org/officeDocument/2006/relationships/officeDocument" Target="/ppt/presentation.xml" Id="R370b2473070145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e70b3d0094518"/>
  </p:sldMasterIdLst>
  <p:notesMasterIdLst>
    <p:notesMasterId xmlns:r="http://schemas.openxmlformats.org/officeDocument/2006/relationships" r:id="R9230955de4524773"/>
  </p:notesMasterIdLst>
  <p:sldIdLst>
    <p:sldId xmlns:r="http://schemas.openxmlformats.org/officeDocument/2006/relationships" id="256" r:id="R46164da7362c4fa0"/>
    <p:sldId xmlns:r="http://schemas.openxmlformats.org/officeDocument/2006/relationships" id="257" r:id="R827a3f9e20f14121"/>
    <p:sldId xmlns:r="http://schemas.openxmlformats.org/officeDocument/2006/relationships" id="258" r:id="Rf4fffce2c49840ee"/>
    <p:sldId xmlns:r="http://schemas.openxmlformats.org/officeDocument/2006/relationships" id="259" r:id="R45f4fdfffa054fdc"/>
    <p:sldId xmlns:r="http://schemas.openxmlformats.org/officeDocument/2006/relationships" id="260" r:id="R2fbdd0cfab42408d"/>
    <p:sldId xmlns:r="http://schemas.openxmlformats.org/officeDocument/2006/relationships" id="261" r:id="Re5acee1733de4ef3"/>
    <p:sldId xmlns:r="http://schemas.openxmlformats.org/officeDocument/2006/relationships" id="262" r:id="R539e7b0e37b94e05"/>
    <p:sldId xmlns:r="http://schemas.openxmlformats.org/officeDocument/2006/relationships" id="263" r:id="R6401419e872544cb"/>
    <p:sldId xmlns:r="http://schemas.openxmlformats.org/officeDocument/2006/relationships" id="264" r:id="Rfbc255e4b4f0404e"/>
    <p:sldId xmlns:r="http://schemas.openxmlformats.org/officeDocument/2006/relationships" id="265" r:id="R83f60c33e32b4538"/>
    <p:sldId xmlns:r="http://schemas.openxmlformats.org/officeDocument/2006/relationships" id="266" r:id="Rf35e879458b54905"/>
    <p:sldId xmlns:r="http://schemas.openxmlformats.org/officeDocument/2006/relationships" id="267" r:id="R40eb2d803ed142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e70b3d0094518" /><Relationship Type="http://schemas.openxmlformats.org/officeDocument/2006/relationships/theme" Target="/ppt/theme/theme1.xml" Id="R616a3548eee44172" /><Relationship Type="http://schemas.openxmlformats.org/officeDocument/2006/relationships/notesMaster" Target="/ppt/notesMasters/notesMaster1.xml" Id="R9230955de4524773" /><Relationship Type="http://schemas.openxmlformats.org/officeDocument/2006/relationships/presProps" Target="/ppt/presProps.xml" Id="Rbc2d0fc6c4974439" /><Relationship Type="http://schemas.openxmlformats.org/officeDocument/2006/relationships/viewProps" Target="/ppt/viewProps.xml" Id="Rcc8d1aa9c03b47f0" /><Relationship Type="http://schemas.openxmlformats.org/officeDocument/2006/relationships/tableStyles" Target="/ppt/tableStyles.xml" Id="R410f19a8f1404032" /><Relationship Type="http://schemas.openxmlformats.org/officeDocument/2006/relationships/slide" Target="/ppt/slides/slide1.xml" Id="R46164da7362c4fa0" /><Relationship Type="http://schemas.openxmlformats.org/officeDocument/2006/relationships/slide" Target="/ppt/slides/slide2.xml" Id="R827a3f9e20f14121" /><Relationship Type="http://schemas.openxmlformats.org/officeDocument/2006/relationships/slide" Target="/ppt/slides/slide3.xml" Id="Rf4fffce2c49840ee" /><Relationship Type="http://schemas.openxmlformats.org/officeDocument/2006/relationships/slide" Target="/ppt/slides/slide4.xml" Id="R45f4fdfffa054fdc" /><Relationship Type="http://schemas.openxmlformats.org/officeDocument/2006/relationships/slide" Target="/ppt/slides/slide5.xml" Id="R2fbdd0cfab42408d" /><Relationship Type="http://schemas.openxmlformats.org/officeDocument/2006/relationships/slide" Target="/ppt/slides/slide6.xml" Id="Re5acee1733de4ef3" /><Relationship Type="http://schemas.openxmlformats.org/officeDocument/2006/relationships/slide" Target="/ppt/slides/slide7.xml" Id="R539e7b0e37b94e05" /><Relationship Type="http://schemas.openxmlformats.org/officeDocument/2006/relationships/slide" Target="/ppt/slides/slide8.xml" Id="R6401419e872544cb" /><Relationship Type="http://schemas.openxmlformats.org/officeDocument/2006/relationships/slide" Target="/ppt/slides/slide9.xml" Id="Rfbc255e4b4f0404e" /><Relationship Type="http://schemas.openxmlformats.org/officeDocument/2006/relationships/slide" Target="/ppt/slides/slide10.xml" Id="R83f60c33e32b4538" /><Relationship Type="http://schemas.openxmlformats.org/officeDocument/2006/relationships/slide" Target="/ppt/slides/slide11.xml" Id="Rf35e879458b54905" /><Relationship Type="http://schemas.openxmlformats.org/officeDocument/2006/relationships/slide" Target="/ppt/slides/slide12.xml" Id="R40eb2d803ed1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cd7336deca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4ba15e42ef4c20" /><Relationship Type="http://schemas.openxmlformats.org/officeDocument/2006/relationships/notesMaster" Target="/ppt/notesMasters/notesMaster1.xml" Id="R69ab73055af84e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b1c24388349f6" /><Relationship Type="http://schemas.openxmlformats.org/officeDocument/2006/relationships/notesMaster" Target="/ppt/notesMasters/notesMaster1.xml" Id="Rd5c3acb2e64744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e59548417146e8" /><Relationship Type="http://schemas.openxmlformats.org/officeDocument/2006/relationships/notesMaster" Target="/ppt/notesMasters/notesMaster1.xml" Id="Refb9a37ef928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59cc80f0e46b7" /><Relationship Type="http://schemas.openxmlformats.org/officeDocument/2006/relationships/notesMaster" Target="/ppt/notesMasters/notesMaster1.xml" Id="R0b5afdaf6eec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1dddadd1c146c0" /><Relationship Type="http://schemas.openxmlformats.org/officeDocument/2006/relationships/notesMaster" Target="/ppt/notesMasters/notesMaster1.xml" Id="R4aa7ecd67d404f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a946a7b924a93" /><Relationship Type="http://schemas.openxmlformats.org/officeDocument/2006/relationships/notesMaster" Target="/ppt/notesMasters/notesMaster1.xml" Id="Rbbbd779dda9e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462fc05f64dd3" /><Relationship Type="http://schemas.openxmlformats.org/officeDocument/2006/relationships/notesMaster" Target="/ppt/notesMasters/notesMaster1.xml" Id="R3663a75b465543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76e87ac3da4b15" /><Relationship Type="http://schemas.openxmlformats.org/officeDocument/2006/relationships/notesMaster" Target="/ppt/notesMasters/notesMaster1.xml" Id="R9766523e9cd341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835ff91b4446ce" /><Relationship Type="http://schemas.openxmlformats.org/officeDocument/2006/relationships/notesMaster" Target="/ppt/notesMasters/notesMaster1.xml" Id="Rafbcb071759b42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9180fdbfef4b4a" /><Relationship Type="http://schemas.openxmlformats.org/officeDocument/2006/relationships/notesMaster" Target="/ppt/notesMasters/notesMaster1.xml" Id="R744e19518ef640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933e3ce9ec4bf0" /><Relationship Type="http://schemas.openxmlformats.org/officeDocument/2006/relationships/notesMaster" Target="/ppt/notesMasters/notesMaster1.xml" Id="R4e6675b9f3ca4d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cb5d316b64446f" /><Relationship Type="http://schemas.openxmlformats.org/officeDocument/2006/relationships/notesMaster" Target="/ppt/notesMasters/notesMaster1.xml" Id="Rd7734019d3f947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with direct framing of the full analysis 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powerofjinbo/fcc-ee-qqlvqq</a:t>
            </a:r>
          </a:p>
          <a:p xmlns:a="http://schemas.openxmlformats.org/drawingml/2006/main">
            <a:r>
              <a:t>- run_lvqq.py, README.md, ml/README.md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answers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run_lvqq.py, README.md, ml/README.md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ml/fit_profile_likelihood.py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Ordered workflow from run_lvqq.py.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run_lvqq.py, README.md, ml/README.md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Samples and fraction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ml_config.py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Cut order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h_hww_lvqq.py, plots_lvqq.py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engineering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h_hww_lvqq.py, plots_lvqq.py</a:t>
            </a:r>
          </a:p>
          <a:p xmlns:a="http://schemas.openxmlformats.org/drawingml/2006/main">
            <a:r>
              <a:t>- ml_config.py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split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ml/train_xgboost_bdt.py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recipe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K-fold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ml/fit_profile_likelihood.py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Fit logic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ml/fit_profile_likelihood.py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takeaway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run_lvqq.py, README.md, ml/README.md</a:t>
            </a:r>
          </a:p>
          <a:p xmlns:a="http://schemas.openxmlformats.org/drawingml/2006/main">
            <a:r>
              <a:t>- h_hww_lvqq.py, plots_lvqq.py</a:t>
            </a:r>
          </a:p>
          <a:p xmlns:a="http://schemas.openxmlformats.org/drawingml/2006/main">
            <a:r>
              <a:t>- ml_config.py</a:t>
            </a:r>
          </a:p>
          <a:p xmlns:a="http://schemas.openxmlformats.org/drawingml/2006/main">
            <a:r>
              <a:t>- ml/train_xgboost_bdt.py</a:t>
            </a:r>
          </a:p>
          <a:p xmlns:a="http://schemas.openxmlformats.org/drawingml/2006/main">
            <a:r>
              <a:t>- ml/apply_xgboost_bdt.py</a:t>
            </a:r>
          </a:p>
          <a:p xmlns:a="http://schemas.openxmlformats.org/drawingml/2006/main">
            <a:r>
              <a:t>- ml/fit_profile_likelihood.py</a:t>
            </a:r>
          </a:p>
          <a:p xmlns:a="http://schemas.openxmlformats.org/drawingml/2006/main">
            <a:r>
              <a:t>- paper/main.tex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d9678cc2941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A88AAE08-DF05-451E-A4C6-A65D4F86F08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9EB246FC-B120-4782-8975-6F80D6286CA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BA9AE6-BB5C-401F-9F38-88483CBEE25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4A2972-2BCD-4325-88E7-4EC246370A2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753ffa18ef469b" /><Relationship Type="http://schemas.openxmlformats.org/officeDocument/2006/relationships/slideLayout" Target="/ppt/slideLayouts/slideLayout2.xml" Id="R7d538516d618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6CDD0D-B128-44C2-A288-601B1F251C6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38516d618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2c11daab14fc6" /><Relationship Type="http://schemas.openxmlformats.org/officeDocument/2006/relationships/notesSlide" Target="/ppt/notesSlides/notesSlide1.xml" Id="Rf2a67c4369c34b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f1c031723c4c0c" /><Relationship Type="http://schemas.openxmlformats.org/officeDocument/2006/relationships/notesSlide" Target="/ppt/notesSlides/notesSlide2.xml" Id="Redd17280d15d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b99faa1b9d4a6e" /><Relationship Type="http://schemas.openxmlformats.org/officeDocument/2006/relationships/notesSlide" Target="/ppt/notesSlides/notesSlide3.xml" Id="Re4625ecc9c2941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31b11d931e47a9" /><Relationship Type="http://schemas.openxmlformats.org/officeDocument/2006/relationships/notesSlide" Target="/ppt/notesSlides/notesSlide4.xml" Id="R41934d0b7b804d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b0c5cb5f0495a" /><Relationship Type="http://schemas.openxmlformats.org/officeDocument/2006/relationships/notesSlide" Target="/ppt/notesSlides/notesSlide5.xml" Id="Rfd6b492f996c4e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0f67e1d018409d" /><Relationship Type="http://schemas.openxmlformats.org/officeDocument/2006/relationships/notesSlide" Target="/ppt/notesSlides/notesSlide6.xml" Id="R8e77b2e2b314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4280f68530488e" /><Relationship Type="http://schemas.openxmlformats.org/officeDocument/2006/relationships/notesSlide" Target="/ppt/notesSlides/notesSlide7.xml" Id="R4edb2531b7c54f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dd88978c5a4c29" /><Relationship Type="http://schemas.openxmlformats.org/officeDocument/2006/relationships/notesSlide" Target="/ppt/notesSlides/notesSlide8.xml" Id="R27340decae48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041647163941a3" /><Relationship Type="http://schemas.openxmlformats.org/officeDocument/2006/relationships/notesSlide" Target="/ppt/notesSlides/notesSlide9.xml" Id="R8454febf4797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dc52c9eb38428b" /><Relationship Type="http://schemas.openxmlformats.org/officeDocument/2006/relationships/notesSlide" Target="/ppt/notesSlides/notesSlide10.xml" Id="Re7d11d08ec3b42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6f051328254ba6" /><Relationship Type="http://schemas.openxmlformats.org/officeDocument/2006/relationships/notesSlide" Target="/ppt/notesSlides/notesSlide11.xml" Id="R2d1c0cc9c56a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752bed26d42e0" /><Relationship Type="http://schemas.openxmlformats.org/officeDocument/2006/relationships/notesSlide" Target="/ppt/notesSlides/notesSlide12.xml" Id="R02ea88dd2e1e49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64E0-B506-4088-8B07-1193D34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ACC1C-32BF-4CD8-80CF-1EF30311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9AA1D-AF90-464B-95B6-5493D46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BA791-8B28-497E-A366-E9C8809F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D4F1-3F51-45E8-B834-C52FFF01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C6C47-C762-41CE-A9DF-800DA3FB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62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B2BF5-219B-473D-8C4B-F4BED2C3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954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FCC lvqq / ML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FE25C-9D19-452F-960F-5586FC9A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4953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FCC 项目</a:t>
            </a:r>
          </a:p>
          <a:p xmlns:a="http://schemas.openxmlformats.org/drawingml/2006/main">
            <a:pPr algn="l"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ML 结构与训练链条</a:t>
            </a:r>
          </a:p>
          <a:p xmlns:a="http://schemas.openxmlformats.org/drawingml/2006/main">
            <a:pPr algn="l">
              <a:defRPr sz="3300" b="1">
                <a:solidFill>
                  <a:srgbClr val="0F1720"/>
                </a:solidFill>
              </a:defRPr>
            </a:pPr>
            <a:r>
              <a:rPr sz="3300" b="1">
                <a:solidFill>
                  <a:srgbClr val="0F1720"/>
                </a:solidFill>
              </a:rPr>
              <a:t>详尽梳理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E6E40-2AE4-47CA-BE83-4EF2A1C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</a:defRPr>
            </a:pPr>
            <a:r>
              <a:rPr sz="1350" b="0">
                <a:solidFill>
                  <a:srgbClr val="344054"/>
                </a:solidFill>
              </a:rPr>
              <a:t>基于仓库代码路径逐层还原：样本 -&gt; 事件级 cut -&gt; 特征工程 -&gt; XGBoost BDT -&gt; 5-fold 打分 -&gt; pyhf 20-bin shape fit。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646D7-D786-4228-B7D8-B4873590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4095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2DED6-480E-4A85-8644-B1A1B369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一句话结论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EEFBC-A233-414E-A156-5F91E96F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代码里明确是 BDT，且不是“只做一次 train/test”这么简单，而是开发评估与最终 fit 输入分成两条线。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D9E5B-8C39-429B-8280-1A82711D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81150"/>
            <a:ext cx="41529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70752-361D-4AAB-A268-E868A130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这套分析真正回答的 4 个问题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8A476-F2DF-4198-8505-794BBE7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7170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1. cut 在 ML 前面做了哪些事情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2. 70/30 与 5-fold 分别服务什么目标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3. BDT score 是怎样进 counting scan 和 shape fit 的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</a:defRPr>
            </a:pPr>
            <a:r>
              <a:rPr sz="1200" b="0">
                <a:solidFill>
                  <a:srgbClr val="344054"/>
                </a:solidFill>
              </a:rPr>
              <a:t>4. 哪些脚本负责训练、应用、拟合与出图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68BF3-846A-444D-BCC5-7722BB28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1162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1F7ED-CB02-48BA-806E-8C3F7792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385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0"/>
                </a:solidFill>
              </a:defRPr>
            </a:pPr>
            <a:r>
              <a:rPr sz="900" b="1">
                <a:solidFill>
                  <a:srgbClr val="0F1720"/>
                </a:solidFill>
              </a:rPr>
              <a:t>XGBoost BDT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573E4-FDF1-4021-9107-78193F5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1600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DE629-378A-401B-B8A8-8480ED63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0"/>
                </a:solidFill>
              </a:defRPr>
            </a:pPr>
            <a:r>
              <a:rPr sz="900" b="1">
                <a:solidFill>
                  <a:srgbClr val="0F1720"/>
                </a:solidFill>
              </a:rPr>
              <a:t>70/30 + 20% 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FDDDDD-AF2C-4BA1-8DF6-B6F650F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1009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87D41-B120-4BDE-9446-A1D3C96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767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0"/>
                </a:solidFill>
              </a:defRPr>
            </a:pPr>
            <a:r>
              <a:rPr sz="900" b="1">
                <a:solidFill>
                  <a:srgbClr val="0F1720"/>
                </a:solidFill>
              </a:rPr>
              <a:t>5-fold CV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8F1BDF-8F0B-466B-B9DF-9276569A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143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8A427A-7F27-4EBE-8AF6-2AEAD56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767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1720"/>
                </a:solidFill>
              </a:defRPr>
            </a:pPr>
            <a:r>
              <a:rPr sz="900" b="1">
                <a:solidFill>
                  <a:srgbClr val="0F1720"/>
                </a:solidFill>
              </a:rPr>
              <a:t>pyhf 20 bins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7873B-BDFF-4365-8B70-3F928035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C8D22-7DA5-4CC7-8D3B-492BF94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run_lvqq.py | h_hww_lvqq.py | ml/*.py | paper/main.tex</a:t>
            </a:r>
          </a:p>
        </p:txBody>
      </p:sp>
    </p:spTree>
    <p:extLst>
      <p:ext uri="{BB962C8B-B14F-4D97-AF65-F5344CB8AC3E}">
        <p14:creationId xmlns:p14="http://schemas.microsoft.com/office/powerpoint/2010/main" val="589581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CDC2F-711C-4DFA-A1C2-0FE02ED1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04218-A363-45D4-BD35-CF9E0F15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FC9EF-5693-4C77-AAD0-96EBE3E7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2EEC0-3640-46FF-A51B-5E119A6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2E3B1-270A-4FEA-A72D-5AAC2EE8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5B8F2-158A-4507-AE47-AB0CB91B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DIRECT 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BE22F-D2B1-4AF3-B298-BF1A251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0F027-B138-4FC1-B62B-80E38B98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2E80C-E54D-4CEF-882F-B0C29BAA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先把你最关心的问题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直接回答掉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74586-872C-40B8-BDE9-DCE8C2B2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这页只讲答案，不展开推导。后面每一页再把代码对应关系拆开。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AD27C-E93E-4ED8-84A5-56E4BB27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01FF3-4DFA-4176-8AD8-214E36BD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ml/train_xgboost_bdt.py | ml/fit_profile_likelihood.py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703E0-4DF9-4939-934E-C69AC76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A4D52-4271-41BC-A228-DE92D18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CE05D-BE93-45A5-8294-F6696A59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XGBoost BDT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B1AC1-4EBD-4BFE-B795-AC618E3D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模型类型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DAF31-05FF-41DE-8135-FA73C290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训练脚本就是 ml/train_xgboost_bdt.py；apply 脚本新增 bdt_score。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24024-DC1B-4434-B695-8BE138F5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97F59-8A58-40FF-AE80-42197220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DB037-8E60-4D07-BFC8-E114FBCB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76600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70 /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7CAE7-6791-48D0-9766-D41BB22C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290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开发划分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53623-240F-4199-AAEC-605B4C37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7670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train_test_split(stratify=y)；再从 70% 训练块里切 20% 做 early stopping validation。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8CFB4-FB00-4F9E-B622-BC587593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1813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C9AD8-E5D0-4968-848F-512CFD7E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48000"/>
            <a:ext cx="3181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30DA3-6BDF-4685-AE8E-3AF327A5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766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5-fold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66C14-49AD-43CE-8996-22D13264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29050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最终无偏打分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BD14F9-AE17-4EAE-9012-EC1922E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767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不是代替 train/test，而是额外做全样本 out-of-fold score，供 fit 优先使用。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6C38B-9467-42C4-BA08-D7912AF9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067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A90FC2-18FA-45D5-AD4C-BC305B8A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29307-54A0-413A-A6CA-1A5B9296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Cut 怎么做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9EFAD9-6BEC-4D7B-884B-D2BB0607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464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先在 FCCAnalyses 里做 7 个顺序 cut：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1 高 p lepton，2 isolation，3 extra lepton veto，4 MET，5 exactly 4 jets，6 Z window，7 recoil window。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只有过完这些 cut 的事件才会写进 treemaker ntuple，再进入 ML。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98521-3BE8-4E9C-804E-076C031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5276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439C89-87AE-4429-9986-8DEAB07E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625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AC8614-677E-405B-8852-912CBB81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14900"/>
            <a:ext cx="485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谁先谁后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5689D6-E284-4338-8DA5-7F6CBF09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0065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默认统计主链是：histmaker -&gt; treemaker -&gt; train -&gt; fit。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若需要把分数重新写回 ROOT，再额外执行 apply；fit 优先读取 kfold_scores.csv，否则退回 test_scores.csv。</a:t>
            </a:r>
          </a:p>
        </p:txBody>
      </p:sp>
    </p:spTree>
    <p:extLst>
      <p:ext uri="{BB962C8B-B14F-4D97-AF65-F5344CB8AC3E}">
        <p14:creationId xmlns:p14="http://schemas.microsoft.com/office/powerpoint/2010/main" val="1976359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34A5F-47AB-4430-893A-6096148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8FE27-FD57-4818-A25B-C029D20C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22BFB-BB72-43DD-83F6-7D802CE0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76B53-FC0F-432B-ACB9-FC17B44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EA170-1602-42C8-8F81-5D9BD1B8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D841A-1F65-4754-8856-E5B0B8C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END-TO-END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0AA14-1108-457B-80CE-7E953864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03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DA944-2484-49A9-824E-A9230AD0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6B284-09EE-4BF9-B1B0-F8A4A03A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端到端工作流：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谁先谁后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33309-CEEE-4215-890A-3418FCA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入口统一由 run_lvqq.py 调度。默认统计主链是 event selection -&gt; ML training -&gt; fit；apply 是额外导出支线。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A134A-D51F-4D8F-BAB8-C863F40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3D7F1-254B-4BC4-82D5-2467E9B7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run_lvqq.py | README.md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8FEDD-A741-47F7-AD2C-34E23514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B953B-D79F-42F1-B67E-FFA4B50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8BC95-8E44-4014-9D1E-5263B576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B2979-E84A-4ECE-88E2-F25C9879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histmaker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B4362-94D5-45E0-8E42-F22F1557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LVQQ_MODE=histmaker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输出 cutflow 和 kinematic hist。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目录：output/.../histmaker/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984D56-56CC-42D0-BD1B-471B514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0995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EE98C-4F70-4E15-B8BD-5BB333E4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60D37-7006-44BC-AEBD-C266FC78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F9C36-DA09-4308-8DE0-F46015A6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1F360-ECC5-410A-9CF8-7D2EFE0A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treemaker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E8837-616F-4B3B-A7F5-A89EE43C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0520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LVQQ_MODE=treemaker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只写 spectators + ML_FEATURES。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目录：output/.../treemaker/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0FF0B-8BFC-49FC-BF27-65264F4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995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EBF4D-6CF1-48A0-8EEC-63E04EB4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B6F898-40A8-4342-8B3F-0069AF54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EEBE9-A33A-47BE-AD7C-65F5CF60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763D7-BE7F-4D93-B259-7AF0C923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train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26CEF-B116-4531-AF0B-E901259D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05200"/>
            <a:ext cx="1866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读取 treemaker ROOT。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训练 XGBoost，写 model / metrics / test_scores / kfold_scores。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F24445-3612-4004-BF2A-6ECD378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22A8FF-0F37-4952-BC00-58321CE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FD79C-1A5D-4082-8FF5-E5EAF62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C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2DB29-CE36-492F-85F2-16ABFAB6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2420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C155B-948D-4AE6-ACD4-71F777E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4800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fit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42F19-1193-457F-9E83-AE25647D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167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直接读取 kfold_scores.csv / test_scores.csv。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做 counting scan + 20-bin shape fit。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22633A-4F0B-4943-AFEA-838193A3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4E0C0A-6F52-400C-8C23-E615788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7936EE-9893-40EB-8DBB-7BFBC632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672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B7B938-E674-4B77-B70A-40C6B6EF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910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apply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9E448-4EB5-410B-956D-69ACA1D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482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可选：把训练好的模型重新打到 treemaker ntuple。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输出带 bdt_score 的 ROOT。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FF5D94-8867-4F18-90BA-5C6FE331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47B920-F33B-45B1-903F-8B23E4E7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108FF9-850F-4934-8E9D-555ED84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C8467-41DE-4278-89A4-35F5B64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186755-BF0C-4558-8713-BC35C4E9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plots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26D7BA-47D7-4E10-AE3B-108D6ECA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048250"/>
            <a:ext cx="224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plots_lvqq.py + regenerate_roc.py + paper support figures。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FA96DA-E154-4296-A704-2F7C3EB8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84A04D-DC20-4D2A-8EE7-670B80DE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762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49036A-526B-4EF6-BDDD-08345C52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202036-FA81-4A6F-A0AE-A7E54B4C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60C3CE-8E89-47A5-AC0C-7E197DF3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paper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484EAB-3E2D-44D0-859B-09636687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482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tectonic 编译论文。</a:t>
            </a:r>
          </a:p>
          <a:p xmlns:a="http://schemas.openxmlformats.org/drawingml/2006/main">
            <a:pPr algn="l">
              <a:defRPr sz="1050" b="0">
                <a:solidFill>
                  <a:srgbClr val="344054"/>
                </a:solidFill>
              </a:defRPr>
            </a:pPr>
            <a:r>
              <a:rPr sz="1050" b="0">
                <a:solidFill>
                  <a:srgbClr val="344054"/>
                </a:solidFill>
              </a:rPr>
              <a:t>paper/main.tex 引用前面所有结果图。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D8CC68-B389-407B-960D-3C0DD2E7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610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E02E6B-3708-4459-8981-87E3080D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F1720"/>
                </a:solidFill>
              </a:defRPr>
            </a:pPr>
            <a:r>
              <a:rPr sz="900" b="0">
                <a:solidFill>
                  <a:srgbClr val="0F1720"/>
                </a:solidFill>
              </a:rPr>
              <a:t>关键理解：histmaker/treemaker 是前置物理选择；train 之后就能直接 fit；apply 只是把分数回写 ROOT 的额外导出步骤。</a:t>
            </a:r>
          </a:p>
        </p:txBody>
      </p:sp>
    </p:spTree>
    <p:extLst>
      <p:ext uri="{BB962C8B-B14F-4D97-AF65-F5344CB8AC3E}">
        <p14:creationId xmlns:p14="http://schemas.microsoft.com/office/powerpoint/2010/main" val="630259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CCC3F-733E-4718-892C-FD0B2B4C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CC8FE-167D-494D-A9CA-9ECDAE25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EBE38-2F64-424C-A18C-970242F0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2F3C0-4544-4F37-93EE-4B9F5766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ED5FB-CC31-476C-8441-D598D99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3AECF-99CD-4FFD-8965-8A3E79BC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SAMPLES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0DA59-3CE2-4C64-81D6-61F1D51B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04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0F456-D824-46E7-9351-E308CE0A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19384-5541-4118-8B34-6834ACF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样本构成与背景配置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ADC04-943C-464D-AE5B-868C2EB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默认是 full-stat 配置，但代码支持按背景类别改 fraction；训练和 FCCAnalyses 阶段共用同一套 fraction 配置。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1DE83-9D18-4461-9FDC-BFFA1CF5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67CB6-8721-446D-BA3F-069CD51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ml_config.py | ml/train_xgboost_bdt.py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FFC26-5F75-4865-88CC-661B4719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1605C-2192-4AA1-B854-8C39405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F1579-B317-46EC-81EE-0DFC352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Signal 与 irreducible samples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B89241-B876-464B-9B1B-33FAD85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5339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Signal 共 4 个 hadronic-Z 入口：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wzp6_ee_qqH_HWW_ecm240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wzp6_ee_bbH_HWW_ecm240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wzp6_ee_ccH_HWW_ecm240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wzp6_ee_ssH_HWW_ecm240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此外 fit 还把 ZH(other) 保留为独立背景组，而不是简单丢掉。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FA920-8BB7-4B35-9E2D-E58D9D2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53911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53A41-B268-48BF-AE7D-F398DF1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76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25324-CAFA-415D-ABEC-722B23C3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Reducible backgrounds 与分组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5BA48-A387-4D30-ACA1-492FED3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9720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训练脚本和 fit 脚本最终按 5 个物理背景组看待：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WW / ZZ / qq / tautau / ZH_other。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ml_config.py 默认 fraction：WW=ZZ=qq=tautau=1.0。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也可通过 LVQQ_BACKGROUND_FRACTION 或各组专门环境变量覆盖。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F3C1AB-947B-4705-8876-62EAA01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9F09A-0928-42F0-9731-A689D5A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4C586-8C14-45CE-93CE-BD5B0048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483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94D142-46DA-4BCB-83B4-8EA7406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Signal 样本入口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0F776D-7338-4AF5-8B3D-A7314C43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FD5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933A4-382F-4EDC-930F-624FB20A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3F369-FC7E-4172-974C-E73EE01C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483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60F2BF-6048-48D9-927F-EE396DF1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40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Fit 背景物理组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B243C-6271-4716-B42E-2D2C6B39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2DD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C05FB-47CC-42C1-BD77-56A57BF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19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9F380-16E2-414B-AEE8-6722096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483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C35A6-78BD-48C4-8F99-44B39045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00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默认背景统计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B99DBE-686F-429B-896A-CF10DB87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19750"/>
            <a:ext cx="2781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D5A0A1-64E0-4DD5-B81F-DC9BB745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6197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E0D205-8915-439F-BE13-53601093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4835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共享配置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C11A6D-110A-4C89-BDE5-82194D2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008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FCCAnalyses 与训练共用 fraction</a:t>
            </a:r>
          </a:p>
        </p:txBody>
      </p:sp>
    </p:spTree>
    <p:extLst>
      <p:ext uri="{BB962C8B-B14F-4D97-AF65-F5344CB8AC3E}">
        <p14:creationId xmlns:p14="http://schemas.microsoft.com/office/powerpoint/2010/main" val="1100622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EC904-D200-484F-AD4F-5052476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07555-7564-434E-A168-8F85417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30BEE-2ACC-451A-B484-EC8BAA56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CB23C-000E-4B8B-9ECC-8F2E524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5BEA1-0B82-40E3-A916-239FE7C8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7FA4C-0A41-4867-A84D-998C70F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EVENT SELECTION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E16D7-301D-451A-B6B2-F094497C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05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CD2E4-E304-4BE6-BF87-B7EBFA77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3B5A-8C6F-4D96-ADF3-45B61B2B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Cut 在哪里做，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按什么顺序做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C3FD8-6BDF-4845-AE49-C92F203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所有前置 cut 都在 h_hww_lvqq.py 的 build_graph_lvqq() 里顺序执行；treemaker 只写 cut 之后留下的事件。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8320C-C169-445B-8657-B7A081A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29092-3E87-4C29-8899-5569782E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h_hww_lvqq.py | plots_lvqq.py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5DBA0-2201-40A2-9370-2DC1D678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49530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CECC1-CA62-4094-9CAD-63A7A32B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0316C-AC85-4DFC-BC23-F7A4887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前四个 cut：拓扑与 lepton/MET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B1CF-EF5B-4BAC-AF64-4ABE487B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533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cut1  恰好 1 个 p&gt;20 GeV 的 lepton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cut2  isolation &lt; 0.15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cut3  veto 额外 p&gt;5 GeV lepton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cut4  missingEnergy_e &gt; 20 GeV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23977-7FDF-428A-B74A-D80DC36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53911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FF7F9-7FBD-4EFF-9C2C-B364A4D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C6303-893A-4C9A-917D-FE04FAB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81350"/>
            <a:ext cx="497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后三个 cut：jet pairing 与质量窗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A40FEE-1263-401D-97FE-0E0D0358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972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cut5  去掉 lepton 后聚成 exactly 4 jets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cut6  |mZcand - 91.19| &lt; 15 GeV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cut7  |mrecoil - 125| &lt; 20 GeV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输出  只把 survivors 写进 treemaker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65277-064F-4FAF-BA9D-AE99E5F3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10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444CC-78AB-4469-84F1-A6B5C60E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46A58"/>
                </a:solidFill>
              </a:defRPr>
            </a:pPr>
            <a:r>
              <a:rPr sz="900" b="1">
                <a:solidFill>
                  <a:srgbClr val="D46A58"/>
                </a:solidFill>
              </a:rPr>
              <a:t>关键点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75156-A45A-43F5-A716-D256ACEF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F1720"/>
                </a:solidFill>
              </a:defRPr>
            </a:pPr>
            <a:r>
              <a:rPr sz="1050" b="0">
                <a:solidFill>
                  <a:srgbClr val="0F1720"/>
                </a:solidFill>
              </a:rPr>
              <a:t>ML 不是从原始事件直接学出来的。它吃的是已经经过 7 个物理选择、并且完成 jet pairing 与高层变量构造之后的 flat ntuple。</a:t>
            </a:r>
          </a:p>
        </p:txBody>
      </p:sp>
    </p:spTree>
    <p:extLst>
      <p:ext uri="{BB962C8B-B14F-4D97-AF65-F5344CB8AC3E}">
        <p14:creationId xmlns:p14="http://schemas.microsoft.com/office/powerpoint/2010/main" val="1090473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259E-3897-428B-ACF3-71E26BE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E7C8E-2799-4607-85BF-418EDF8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17349-CA82-4CBC-8EAE-4D3DB3D4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1A9F8-FEDF-4B43-9A73-B6E357F5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B2123-5058-4F8A-A6B1-CA5A7BB4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5BAAD-78B5-4A1F-9B18-2B45A9CC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FEATURE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84729-F242-4AB9-BC5B-9F7612B7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822AF-DEBF-422F-BF23-1B1F893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50331-47FC-4D40-B1F7-839294F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变量工程与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Z-priority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23120-29A4-4175-9FD4-663F581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你项目的“ML 结构”不只是模型，而是 cut 后如何把四个 jet 与 lepton/MET 变成对分类有用的高层变量。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C419F-4B84-47E6-A20A-AA9AF8CD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5FA31-121E-415C-AA10-69A9998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h_hww_lvqq.py | ml_config.py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1C269-324F-4F1A-87F5-8C3901BA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3147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65AE4-9BB9-4FEB-9A02-AA7A8D63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5BEDE-D283-4BCB-B865-333CBC27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Z-priority pairing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F1416-84AA-4BA5-BA94-14B537C0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895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先把 4 jets 两两配对。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从 3 种 disjoint pairing 中，选择 invariant mass 最接近 mZ 的一对当 Zcand。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剩下两 jet 组成 hadronic W*。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这样不会错误地把 off-shell W* 强迫贴近 mW。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CAD01-9EA0-4B8E-BA4E-190D8CC8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3147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E427D-AA68-4A82-B9F8-054D654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34B093-E0C0-4F39-802B-DEC073D3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20 个训练特征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8F8E7-3771-4472-B816-9721BA81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2895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lepton / MET / visible energy / 4 jet momenta / Zcand_dm / Wstar_m / recoil_dmH / Wlep_m / Hcand_m / thrust / angleLepMiss / d23 / d34 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ML_SPECTATORS 只有：weight, njets。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E4877-F72E-4354-8152-84CF46D2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4480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6AD7C8-A343-4A3D-943F-B87E260C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54B76-3075-4D88-A56C-BC52AA7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302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最强区分信息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2BE8E9-A7FD-4D5C-BF8C-6776FC4D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30289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paper/main.tex 给出的主导变量是 d34（42.5% importance）。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它来自 Durham jet merging distance，正好抓住 signal 四喷注结构与 WW 两喷注倾向的差别。</a:t>
            </a:r>
          </a:p>
        </p:txBody>
      </p:sp>
    </p:spTree>
    <p:extLst>
      <p:ext uri="{BB962C8B-B14F-4D97-AF65-F5344CB8AC3E}">
        <p14:creationId xmlns:p14="http://schemas.microsoft.com/office/powerpoint/2010/main" val="1494710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2A1DA-D19E-436B-9F16-9945B927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2CA7F-8DDA-4872-8981-58900E7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983E-6EF2-4F0D-A8E7-B52A3A9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706A3-CFDB-4B92-B709-F6743D32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ADBB7-C77D-4E64-8EA5-15C1C9A1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192BB-C2B9-478A-9CBB-DAD25A05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DATA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7955-A99D-4AF5-83F7-8584DCBE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07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1D84F-CECD-4705-BC80-A7BD70E4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E69B4-9B70-4DE6-BE70-81B2E518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开发划分：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70/30 之外还有一层 20%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3502-DBC8-4EA0-A455-70984060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这是最容易误读的地方：train/test 与 early stopping validation 是两层不同目的的切分。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BC5FB-A054-4995-90AA-CD1BE883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FE637-4C9F-494D-AA00-E56D20D1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ml/train_xgboost_bdt.py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5791E-F189-445A-98BF-88BE684B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61E24-ADE1-43BC-B292-CC33D78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4BA71-EE66-4828-83C0-D2299AF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1A0ED-83B1-44DC-9C41-698B83E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全体选中事件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67965-7BE6-47E9-85D2-C451B62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sig_df + bkg_df -&gt; full_df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-&gt; X, y, phys_weight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39038-B8C1-4AAD-940D-951A30CC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3855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C36C5-5261-4FDA-B5E3-2548976A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0B45DF-4B46-453D-96F7-DF0369A7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099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BFCBF-08CF-4AC4-8038-FA29A78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70%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1B44B1-7DAF-4293-B2CE-2EB11E0D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开发训练块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75B57-29E3-4196-AAD1-EAAA516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386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idx_train；后面真正训练和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validation 都从这里再切。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E172D5-4BCC-479B-91CD-3689CF70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4381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F694D-4C48-4576-B648-06D0636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DA08B0-C70A-439F-9E4F-562BD612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231048-A73F-49D7-A080-30377706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3850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30%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FE8DB0-24C4-4F8A-BF22-D0F668F4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90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保持 untouched 的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C4E8A2-C3DE-4DDD-8D18-0EA392DA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只用于开发性能报告、AUC、KS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与 test_scores.csv。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5ED29-8444-4181-9616-88E3E7E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26CDF-7326-43C0-A68D-54F5CED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910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2BFA7E-7EA0-439E-865C-1761B8B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196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56%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212AD-7758-4598-8542-691E63E4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72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fit 子块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B84448-8105-458D-B142-1E9A512C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X_fit / y_fit / w_fit；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真正用于训练树参数。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5802D-5AF5-499E-9FD9-0956022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19700"/>
            <a:ext cx="3810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586E3-710A-4174-B462-A31A9946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91050"/>
            <a:ext cx="2286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D21344-91B7-460D-B3F7-0039B3C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910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ABA120-97A8-4426-9ED9-8C406C3B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96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14%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8DE024-2947-4707-B450-242855E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72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validation 子块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4230BA-4927-4E67-9B8D-77BBCFF2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9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从 70% 里切 20%；</a:t>
            </a:r>
          </a:p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只用于 early stopping。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B41E61-9782-480B-A6D1-27089DB2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108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5EDB9A-6C11-4BF6-82CF-2201CD7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0287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0F1720"/>
                </a:solidFill>
              </a:defRPr>
            </a:pPr>
            <a:r>
              <a:rPr sz="825" b="0">
                <a:solidFill>
                  <a:srgbClr val="0F1720"/>
                </a:solidFill>
              </a:rPr>
              <a:t>所以代码里同时存在 70/30 和 20% validation；前者服务开发评估，后者服务 early stopping，不冲突。</a:t>
            </a:r>
          </a:p>
        </p:txBody>
      </p:sp>
    </p:spTree>
    <p:extLst>
      <p:ext uri="{BB962C8B-B14F-4D97-AF65-F5344CB8AC3E}">
        <p14:creationId xmlns:p14="http://schemas.microsoft.com/office/powerpoint/2010/main" val="1974270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4F162-7110-4B10-A3CA-29FF1C88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E8778-5B93-488E-B476-91622AAB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4827E-B187-4555-9D08-1A300D47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9F275-0BFE-46AF-AB17-14DE739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088FE-2533-457B-9395-BA571251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D8BEA-8599-4120-B8D1-5792970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TRAINING RECIPE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58270-A8E3-41EA-8967-34D082B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08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5FD34-7E47-4C98-AA69-A528889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79BBE-691D-4379-BBD4-3D5DBA98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怎么训练：权重、grid search、early stopping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85734-18CA-405E-A3C5-EAB1CA77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训练脚本并不是直接把 ROOT 扔给 XGBoost，而是先做 physics weight、再做 class-balanced normalization，然后才 search/train。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28F7D-B97C-462A-8CA1-D2D93B24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917A-A18D-42C0-922A-EFA6808E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ml/train_xgboost_bdt.py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6549C-8E4D-4561-8B4E-7BBE060B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766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77243-D4C5-4439-81C8-9EF4937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5D1C6C-34F5-41B1-9544-F915FCC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1. 物理权重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5ED6A-4F5B-47FC-B13A-6C895BC2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每个 sample 的基础权重：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phys_weight = L * xsec / (ngen * processed_fraction)。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这保证即使只处理了部分大背景统计，也能还原到正确归一化。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C9F13-3064-4766-B2FD-4553A420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32766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ADC86-5FD5-43A3-ACFD-2E427243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27AEA-623D-4B0D-8F4C-773CB04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2. 类别平衡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DF025-82E6-431F-A5D0-6BD4C117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2857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normalize_class_weights() 不改类内相对关系，只把 signal 与 background 的总权重都缩到较小类的 event 数规模。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作用：训练更平衡，但评估仍然回到 phys_weight。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BA5BC-9CE1-4822-BE69-0043836F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35242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27624-F941-4095-BAE4-61A957B9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F2277-E2F6-4817-9A3B-CE521A5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310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3. 搜参与 final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859DF-D79B-455C-98E5-10654A5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67100"/>
            <a:ext cx="31051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grid search 在最多 50k 训练样本子集上跑。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参数网格：depth(3,4,5) × lr(0.01,0.05,0.1) × mcw(5,10,20) × subsample(0.7,0.8) × colsample(0.7,0.8) = 108 组。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每组都带 early_stopping_rounds=30。</a:t>
            </a:r>
          </a:p>
        </p:txBody>
      </p:sp>
    </p:spTree>
    <p:extLst>
      <p:ext uri="{BB962C8B-B14F-4D97-AF65-F5344CB8AC3E}">
        <p14:creationId xmlns:p14="http://schemas.microsoft.com/office/powerpoint/2010/main" val="1373541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B43E6-8DF9-49EE-8CFA-141FFA3F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4FBB9-BDC7-4E93-80E0-47A96930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0EEC7-D385-4C76-A5AE-CE89EE9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4D4D7-7248-48FE-BA03-C6A6A43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8F8BC-678E-4C57-BCF1-BA3FD04F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4AD04-83FE-41D7-8B7F-B9A065F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32BC7-4608-4152-A770-1BEDD78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09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FB2DD-6206-4B6B-A662-7B01404F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FA1B2-DC80-4B41-8B48-90A708FF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开发性能、过拟合检查与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训练产物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C83AE-82A9-46B2-A783-240B1A5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开发性能来自独立的 70/30 划分；最终给 fit 的并不局限于这 30%。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D28486-EB8F-42DF-BBAD-50109EAE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630FB-93E5-4045-8FAF-338283D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ml/train_xgboost_bdt.py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92A20-D85C-48FC-9E7C-1AE2099F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C0288-D267-472B-9287-9D09C896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C0EF6-FC9D-4307-988F-063947D4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0.9711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D5C52-CB9A-4EB9-816E-AFB21FB5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5-fold weighted 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F25EE9-362F-4607-88B1-6AB9DF6B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paper/main.tex: all selected events, out-of-fold score。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5CE75-8163-4665-B39D-0328FE2A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304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3616A-F817-4FEA-BE6E-4A3B39D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289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EA23C-45E1-46D4-B4CE-248558A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266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0.9719 / 0.9710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76861-BA00-4D39-B7F5-7F9BDD3E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Train / Test 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6D3E4-3EE1-438D-93F3-C17B9BED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同一份开发 split 的 performance report。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D42A1-AA8D-4346-8104-87DF82F1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905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3B34B-2871-4042-8F4C-2C281DE1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3905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D6368-AFAC-468B-8C05-BDF75FC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352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d34 = 42.5%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BBC3E8-B041-40A2-929E-45CFB360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最强特征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05860-11F1-43D2-9028-E86DB746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57650"/>
            <a:ext cx="352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</a:defRPr>
            </a:pPr>
            <a:r>
              <a:rPr sz="675" b="0">
                <a:solidFill>
                  <a:srgbClr val="667085"/>
                </a:solidFill>
              </a:rPr>
              <a:t>paper/main.tex 给出 top importance；feature_importance.csv 也会落盘。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AC640A-4B77-4502-BAFF-6C57A56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143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E0212-F486-4636-929A-8174CF2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7AA1B4-8001-4855-B296-3EB7B1F9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过拟合检查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C90AA-432C-46AF-A88B-12CD5B29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4724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代码同时看：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|train_auc - test_auc| &gt; 0.02？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- signal/background 的 KS statistic &gt; 0.05？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任一满足就把 overtraining_flag 记成 WARNING。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A633BB-1F43-4D8A-82D7-4B73F1F5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52006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63DEE-7A28-4463-9270-AC2866E6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4F0F4D-4CB0-4CC7-83C6-4D4EE68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57750"/>
            <a:ext cx="478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训练输出文件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99AFC8-F119-44BB-85AC-CD831BD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43500"/>
            <a:ext cx="4781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xgboost_bdt.json + training_metrics.json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training_history.json + feature_importance.csv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test_scores.csv + kfold_scores.csv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plots/*.png|pdf</a:t>
            </a:r>
          </a:p>
        </p:txBody>
      </p:sp>
    </p:spTree>
    <p:extLst>
      <p:ext uri="{BB962C8B-B14F-4D97-AF65-F5344CB8AC3E}">
        <p14:creationId xmlns:p14="http://schemas.microsoft.com/office/powerpoint/2010/main" val="99757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50036-F1BC-41F6-A6BE-52CB52B0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30487-41B7-47A9-8AAF-7910E984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0CB92-F223-4EFE-973D-DAA61A9C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497BE-7220-45D6-B4B5-59573A0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27790-C560-413C-A451-39F5E6F1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C202B-4642-4591-88CD-A5A0D84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KFOLD SCORING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BD416-AA30-410C-84B9-06975BD0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10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85F5-6DC7-4BFB-84C4-688750C5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C7B34-DDCD-4BB9-961D-4E42CB8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5-fold 不是多余步骤，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它是 fit 输入的关键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3D94A-55E8-4811-9BE0-252DBA5E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代码里 train/test split 与 k-fold 是并行存在的两条线：一个给开发报告，一个给最终统计输入。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B91C8-039B-41CD-AB2B-2754C0BF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46731-F4C9-4FDE-809B-789413BC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ml/train_xgboost_bdt.py | ml/fit_profile_likelihood.py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DC3D4-952B-455E-A473-AB167AA6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38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90F40-B190-4DAB-8E76-B5159DB4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E54FB-8310-41D8-993E-670D121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怎么做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1569B-4019-4E0C-8DEE-F2FE6CC8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819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StratifiedKFold(n_splits=5, shuffle=True, random_state=42)。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每个 fold 用 80% 训练、20% 验证，但每个 event 的 score 都来自“没见过它”的模型。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5543D-DF83-4B7A-B471-5630E810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3238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9BE6C-75DB-49A3-B89C-361AE3B7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03FDE-2595-4387-BE3E-E7173CE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为什么要做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6C281-658D-423F-9B84-C2A9F052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2819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如果只拿 test_scores.csv，最终 fit 只能看到 30% 事件。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而 kfold_scores.csv 给出的是 100% 事件的无偏 score，更适合后面的模板拟合。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A9D2F-F6A6-4EE6-A56A-7E742452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3600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0CB23-64C3-4834-9771-46DD32B9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534257-24C1-4080-925C-A99A43C1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fit 里怎么用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510A15-CFD7-46F5-980F-8F86374A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6710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fit_profile_likelihood.py 会先找 model_dir/kfold_scores.csv。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找到就直接用，并注明“不需要 weight scaling”。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只有退回 test_scores.csv 时，才把 phys_weight 再除以 test_frac=0.30。</a:t>
            </a:r>
          </a:p>
        </p:txBody>
      </p:sp>
    </p:spTree>
    <p:extLst>
      <p:ext uri="{BB962C8B-B14F-4D97-AF65-F5344CB8AC3E}">
        <p14:creationId xmlns:p14="http://schemas.microsoft.com/office/powerpoint/2010/main" val="17402765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57BC2-64A2-4FFB-8ADE-9BBE0771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2AD7B-935F-43D5-A0C2-8C93CE1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85B7D-E1B2-4F56-A19B-8A4AE88D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471E4-DEDB-4449-A803-7E7C8AF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23D20-3DBA-457C-B9F9-2FEC9DD3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DD4CC-5B6C-41E2-BB74-4D28820D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FIT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D8997-8C7C-46EA-864F-23092D3F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11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B8F99-F456-4DB3-9FA8-E6889EAC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7B622-BB1C-4B64-9271-225B3541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BDT cut scan、20-bin shape fit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与最终精度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F841F-0843-4AD5-B3DB-2F75A630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这里有两个相关但不同的步骤：一个是 counting reference scan，一个是真正的 20-bin shape fit。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00A18-0AFC-49A6-9328-2C3A9FD2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E101A-9840-4345-B838-09C282A7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ml/fit_profile_likelihood.py | paper/main.tex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89D49-352B-4583-90BA-7FBE526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238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508F7-54FD-4CAB-A374-AE92E09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6224F-16B5-4F88-AA32-BFA48814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1-bin counting scan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E781DC-7C39-4F1D-AD0F-AF26067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2819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scan_bdt_cut() 默认扫：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0.00-0.89 每 0.05 一步，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0.90-0.99 每 0.01 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这是 cut-and-count 参考线，不是最终 headline result。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53F68-18C5-44EA-A0E6-0C7A7FA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32385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A63F34-2CD8-4776-82D6-7EDABC48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F867A-F620-401F-98CB-072F618C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813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20-bin shape 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D9425-86F4-416B-8B5B-D7F4E873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28194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最终默认 bdt_cut = 0.0，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在 [0, 1] 上均匀切 20 个 bin。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信号 strength 参数是 mu；背景按 WW / ZZ / qq / tautau / ZH_other 分组进入模板。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6F7D2-BCA0-43D2-BDBA-FA6D695D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36004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29732-48A8-49A5-A264-8B7E8B5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28950"/>
            <a:ext cx="762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D46C0-ED07-45B2-A1A1-7D87070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3181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系统误差与结果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186E0-EF67-4A05-A75B-7021526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67100"/>
            <a:ext cx="3181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每个背景组给 1% normsys。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默认再加 Barlow-Beeston staterror。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paper/main.tex：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shape fit 精度 = 0.88%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physics-only floor = 0.79%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best counting precision = 1.03% @ cut 0.97</a:t>
            </a:r>
          </a:p>
        </p:txBody>
      </p:sp>
    </p:spTree>
    <p:extLst>
      <p:ext uri="{BB962C8B-B14F-4D97-AF65-F5344CB8AC3E}">
        <p14:creationId xmlns:p14="http://schemas.microsoft.com/office/powerpoint/2010/main" val="730188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C48AED-B817-46FB-A774-50D89548C0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79A70-7093-45E6-9D17-5FD7729C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04775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5B0A6-9251-428E-8C65-A2CAD47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667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F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44F6E-24A1-4F4C-8E03-AA8880B1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34000"/>
            <a:ext cx="2381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2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F6AF4-B696-41F7-ADDD-1147FBF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E0832-30B2-4C35-A888-AB73D277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D685B-6CDC-4656-8A4A-2A6A35A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40964-CB68-4046-8879-EC10A3B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429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3644A"/>
                </a:solidFill>
              </a:defRPr>
            </a:pPr>
            <a:r>
              <a:rPr sz="900" b="1">
                <a:solidFill>
                  <a:srgbClr val="13644A"/>
                </a:solidFill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4CDC8-D43B-4AF2-B473-686910C4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61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B3DFC-172B-484F-85E3-12F7B40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文件地图与</a:t>
            </a:r>
          </a:p>
          <a:p xmlns:a="http://schemas.openxmlformats.org/drawingml/2006/main">
            <a:pPr algn="l">
              <a:defRPr sz="2550" b="1">
                <a:solidFill>
                  <a:srgbClr val="0F1720"/>
                </a:solidFill>
              </a:defRPr>
            </a:pPr>
            <a:r>
              <a:rPr sz="2550" b="1">
                <a:solidFill>
                  <a:srgbClr val="0F1720"/>
                </a:solidFill>
              </a:rPr>
              <a:t>最终 takeaways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2BD81-B8BA-42CD-9BB7-08EEF9F7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</a:defRPr>
            </a:pPr>
            <a:r>
              <a:rPr sz="1275" b="0">
                <a:solidFill>
                  <a:srgbClr val="344054"/>
                </a:solidFill>
              </a:rPr>
              <a:t>这一页把“你该去哪个文件看哪个问题”收口，同时把方法链条压成一句话。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A9DA2-9172-4722-A985-1062F32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2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990A-E135-4822-B6E8-DC864C1B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</a:defRPr>
            </a:pPr>
            <a:r>
              <a:rPr sz="750" b="0">
                <a:solidFill>
                  <a:srgbClr val="667085"/>
                </a:solidFill>
              </a:rPr>
              <a:t>Source: repo overview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DAE8D-C603-4BDC-BCF7-C6EE5EC0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52197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F8D00-140F-4860-93D2-5F3DEB3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D49AD-C5AA-433D-96C3-E3DAA091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你要看哪类问题，就去哪里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DBE1D-64CF-4051-BFF3-54173ABE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800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工作流入口：run_lvqq.py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事件级 cut 与高层变量：h_hww_lvqq.py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样本列表与 feature 清单：ml_config.py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训练 / grid search / 70/30 / 5-fold：ml/train_xgboost_bdt.py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默认统计拟合：ml/fit_profile_likelihood.py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批量打分导出 ROOT：ml/apply_xgboost_bdt.py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8A99F-11EF-4828-8639-8147155E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51244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30C7E-7C69-4630-BF85-DB48706C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209A6-0225-49EF-BE2C-7DF196E0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81350"/>
            <a:ext cx="470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644A"/>
                </a:solidFill>
              </a:defRPr>
            </a:pPr>
            <a:r>
              <a:rPr sz="1050" b="1">
                <a:solidFill>
                  <a:srgbClr val="13644A"/>
                </a:solidFill>
              </a:rPr>
              <a:t>最终一句话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D02E6-06FF-4186-AD8C-07FA11EC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67100"/>
            <a:ext cx="47053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你的 ML 结构是：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先做物理 cut 和变量构造，再训练 XGBoost BDT。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开发评估用 70/30 split；树数选择靠训练内 20% validation。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最终给 fit 的主输入则是 5-fold out-of-fold score。</a:t>
            </a:r>
          </a:p>
          <a:p xmlns:a="http://schemas.openxmlformats.org/drawingml/2006/main">
            <a:pPr algn="l">
              <a:defRPr sz="1125" b="0">
                <a:solidFill>
                  <a:srgbClr val="0F1720"/>
                </a:solidFill>
              </a:defRPr>
            </a:pPr>
            <a:r>
              <a:rPr sz="1125" b="0">
                <a:solidFill>
                  <a:srgbClr val="0F1720"/>
                </a:solidFill>
              </a:rPr>
              <a:t>统计解释不是简单 cut-and-count，而是 pyhf 的 20-bin BDT shape fit。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BCFCA-334B-46DF-A3DD-CCBEE38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4EC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7ED8C-C6FE-484F-96D0-2E6279B4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65842-05F9-4B1B-B7C8-016273E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FAF52-57FC-4F01-8C46-BA2CE22D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事件级顺序 cut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AAACB-A03F-4ED0-A242-99C5EA8C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FD5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34A53-4E56-4390-9B65-CF842A2C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92E203-CA9C-4050-B328-E86FA1C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197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83998-4DFA-400E-B50F-E1DB1405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72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训练特征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D784F-01C5-4FA9-AC09-1CA579DA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911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7E2DD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8CEDCD-CCAA-451B-B652-6CD2A991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911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A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BC0E6E-65F8-4765-BB28-4A3B992E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197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1B26AD-9B8C-4C70-8E00-3A7E62C8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72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fold 无偏打分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2AE100-497A-4540-8D74-5F20B24B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91150"/>
            <a:ext cx="2781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7ECF4"/>
          </a:solidFill>
          <a:ln xmlns:a="http://schemas.openxmlformats.org/drawingml/2006/main" w="11430">
            <a:solidFill>
              <a:srgbClr val="CAD2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C6A236-74EC-493D-9D04-9145F1A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911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C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CC5A0D-C8AE-4975-9A2A-7F2B40D5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19750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0"/>
                </a:solidFill>
              </a:defRPr>
            </a:pPr>
            <a:r>
              <a:rPr sz="2250" b="1">
                <a:solidFill>
                  <a:srgbClr val="0F1720"/>
                </a:solidFill>
              </a:rPr>
              <a:t>0.88%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A5E729-7DF2-4E51-9284-23853217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</a:defRPr>
            </a:pPr>
            <a:r>
              <a:rPr sz="1125" b="0">
                <a:solidFill>
                  <a:srgbClr val="344054"/>
                </a:solidFill>
              </a:rPr>
              <a:t>shape-fit 精度</a:t>
            </a:r>
          </a:p>
        </p:txBody>
      </p:sp>
    </p:spTree>
    <p:extLst>
      <p:ext uri="{BB962C8B-B14F-4D97-AF65-F5344CB8AC3E}">
        <p14:creationId xmlns:p14="http://schemas.microsoft.com/office/powerpoint/2010/main" val="135637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2026-04-19T06:21:01.5400000Z</dcterms:created>
  <dcterms:modified xsi:type="dcterms:W3CDTF">2026-04-19T06:21:01.5400000Z</dcterms:modified>
</coreProperties>
</file>